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7560309" cy="1069213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3" Type="http://schemas.openxmlformats.org/officeDocument/2006/relationships/viewProps" Target="viewProps.xml"/><Relationship Id="rId32" Type="http://schemas.openxmlformats.org/officeDocument/2006/relationships/tableStyles" Target="tableStyles.xml"/><Relationship Id="rId31" Type="http://schemas.openxmlformats.org/officeDocument/2006/relationships/presProps" Target="presProps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hyperlink" Target="&#26426;&#22120;&#23398;&#20064;&#31639;&#27861;&#36873;&#25321;&#25351;&#21335;.html" TargetMode="External"/><Relationship Id="rId4" Type="http://schemas.openxmlformats.org/officeDocument/2006/relationships/image" Target="../media/image15.jpe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7" Type="http://schemas.openxmlformats.org/officeDocument/2006/relationships/image" Target="../media/image18.jpeg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hyperlink" Target="&#36923;&#36753;&#22238;&#24402;&#21442;&#25968;&#36890;&#20439;&#35299;&#37322;.html" TargetMode="External"/><Relationship Id="rId3" Type="http://schemas.openxmlformats.org/officeDocument/2006/relationships/hyperlink" Target="&#26426;&#22120;&#23398;&#20064;&#20998;&#31867;&#27169;&#22411;&#35780;&#20272;&#25351;&#26631;.html" TargetMode="External"/><Relationship Id="rId2" Type="http://schemas.openxmlformats.org/officeDocument/2006/relationships/hyperlink" Target="&#26426;&#22120;&#23398;&#20064;&#25968;&#25454;&#29305;&#24449;&#22788;&#29702;&#25945;&#23398;.htm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3.jpeg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99972" y="4838700"/>
            <a:ext cx="5221223" cy="2330195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830626" y="8115579"/>
            <a:ext cx="4285615" cy="1278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51790" algn="l" rtl="0" eaLnBrk="0">
              <a:lnSpc>
                <a:spcPct val="105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）疾病诊断与预测：通过分析患者的病历、影像数据（如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光片、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CT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扫描）和基因数据，机器学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习可以帮助医生诊断疾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病（如癌症、心脏病）或预测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疾病风险。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IBM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Watson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Health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用机器学习帮助医生制定癌症治疗方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案。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9050" indent="382904" algn="l" rtl="0" eaLnBrk="0">
              <a:lnSpc>
                <a:spcPct val="118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）药物开发：机器学习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可以加速新药的研发过程，通过 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分析化学分子结构和生物数据</a:t>
            </a:r>
            <a:r>
              <a:rPr sz="1200" kern="0" spc="-3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，预测哪些药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物可能有效。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2735833" y="1685823"/>
            <a:ext cx="4380865" cy="1228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3209" algn="l" rtl="0" eaLnBrk="0">
              <a:lnSpc>
                <a:spcPct val="83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定义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：一个计算机程序，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利用经验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来学习任务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，性能表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1270" algn="l" rtl="0" eaLnBrk="0">
              <a:lnSpc>
                <a:spcPct val="146000"/>
              </a:lnSpc>
              <a:spcBef>
                <a:spcPts val="13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现为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，如果针对任务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的性能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能随着经验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不断增长，则称为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机器学习。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07975" algn="l" rtl="0" eaLnBrk="0">
              <a:lnSpc>
                <a:spcPct val="133000"/>
              </a:lnSpc>
              <a:spcBef>
                <a:spcPts val="226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定义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：通过不断地喂养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数据，让算法变得越来越聪明，就叫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做机器学习。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57073" y="489635"/>
            <a:ext cx="3946525" cy="10947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机器学习</a:t>
            </a:r>
            <a:endParaRPr sz="23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100000"/>
              </a:lnSpc>
              <a:spcBef>
                <a:spcPts val="722"/>
              </a:spcBef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一、机器学习概述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19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</a:t>
            </a:r>
            <a:r>
              <a:rPr sz="1500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机器学习的定义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47090" y="9452114"/>
            <a:ext cx="4874895" cy="6927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DeepMind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AlphaFold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用机器学习预测蛋白质结构，帮助研发新药。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7659" algn="l" rtl="0" eaLnBrk="0">
              <a:lnSpc>
                <a:spcPct val="92000"/>
              </a:lnSpc>
              <a:spcBef>
                <a:spcPts val="668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交通行业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0675" algn="l" rtl="0" eaLnBrk="0">
              <a:lnSpc>
                <a:spcPts val="1944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应用案例：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45891" y="3113532"/>
            <a:ext cx="1744979" cy="156057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3900" y="1712162"/>
            <a:ext cx="1859432" cy="1392686"/>
          </a:xfrm>
          <a:prstGeom prst="rect">
            <a:avLst/>
          </a:prstGeom>
        </p:spPr>
      </p:pic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776858" y="8159115"/>
          <a:ext cx="1945004" cy="1239519"/>
        </p:xfrm>
        <a:graphic>
          <a:graphicData uri="http://schemas.openxmlformats.org/drawingml/2006/table">
            <a:tbl>
              <a:tblPr/>
              <a:tblGrid>
                <a:gridCol w="1945004"/>
              </a:tblGrid>
              <a:tr h="12331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86384" y="8168640"/>
            <a:ext cx="1926336" cy="1220723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454101" y="3231159"/>
            <a:ext cx="2390775" cy="971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机器学习是</a:t>
            </a:r>
            <a:r>
              <a:rPr sz="1200" kern="0" spc="-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的子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集，是一门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2027"/>
              </a:lnSpc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统能够从数据中自主识别规律并优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299720" algn="l" rtl="0" eaLnBrk="0">
              <a:lnSpc>
                <a:spcPct val="133000"/>
              </a:lnSpc>
              <a:spcBef>
                <a:spcPts val="3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机器学习的发展历程是从基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于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到以大数据和深度神经网络为代表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806022" y="3231159"/>
            <a:ext cx="2310129" cy="971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通过计算算法构建统计模型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，使系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2027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化性能的学科。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4129" indent="-11429" algn="l" rtl="0" eaLnBrk="0">
              <a:lnSpc>
                <a:spcPct val="133000"/>
              </a:lnSpc>
              <a:spcBef>
                <a:spcPts val="3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规则与统计学习的早期探索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，演进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的现代人工智能的飞跃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过程。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457073" y="7284275"/>
            <a:ext cx="2545714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28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机器学习的应用场景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457073" y="4510595"/>
            <a:ext cx="216344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机器学习的分类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727049" y="7623479"/>
            <a:ext cx="771525" cy="461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0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640" indent="-27940" algn="l" rtl="0" eaLnBrk="0">
              <a:lnSpc>
                <a:spcPct val="127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医疗行业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应用案例：</a:t>
            </a:r>
            <a:endParaRPr sz="11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/>
          <p:nvPr/>
        </p:nvSpPr>
        <p:spPr>
          <a:xfrm>
            <a:off x="2670301" y="3290582"/>
            <a:ext cx="4446270" cy="3447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4500" algn="l" rtl="0" eaLnBrk="0">
              <a:lnSpc>
                <a:spcPct val="95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应用案例：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3334" indent="346075" algn="l" rtl="0" eaLnBrk="0">
              <a:lnSpc>
                <a:spcPct val="104000"/>
              </a:lnSpc>
              <a:spcBef>
                <a:spcPts val="406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）个性化推荐：电商平台（如淘宝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、亚马逊）使用机器学习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分析用户的浏览和购买记录，推荐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用户可能感兴趣的商品。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Netflix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使用推荐系统为用户推荐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电影和电视剧。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85445" algn="l" rtl="0" eaLnBrk="0">
              <a:lnSpc>
                <a:spcPct val="135000"/>
              </a:lnSpc>
              <a:spcBef>
                <a:spcPts val="25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）库存管理与需求预测：零售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商使用机器学习预测未来商品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的需求量，优化库存管理，避免缺货或积压。沃尔玛使用机器学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习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优化供应链管理。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119" indent="343534" algn="l" rtl="0" eaLnBrk="0">
              <a:lnSpc>
                <a:spcPct val="104000"/>
              </a:lnSpc>
              <a:spcBef>
                <a:spcPts val="368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）精准农业：通过分析土壤、天气和作物生长数据，机器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学习可以帮助农民优化灌溉、施肥和收割。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Jo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hn Deere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使用机器学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习优化农业机械的操作。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64135" indent="388620" algn="l" rtl="0" eaLnBrk="0">
              <a:lnSpc>
                <a:spcPct val="135000"/>
              </a:lnSpc>
              <a:spcBef>
                <a:spcPts val="25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）病虫害预测：机器学习可以分析农田的传感器数据和卫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星图像，预测病虫害的发生，帮助农民提前采取措施。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IBM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Watson Decision Platfo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rm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为农民提供病虫害预测服务。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1235582" y="7426071"/>
          <a:ext cx="5080000" cy="2731135"/>
        </p:xfrm>
        <a:graphic>
          <a:graphicData uri="http://schemas.openxmlformats.org/drawingml/2006/table">
            <a:tbl>
              <a:tblPr/>
              <a:tblGrid>
                <a:gridCol w="5080000"/>
              </a:tblGrid>
              <a:tr h="27247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45108" y="7435595"/>
            <a:ext cx="5061203" cy="2712720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2795574" y="468147"/>
            <a:ext cx="4371975" cy="27743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180" indent="346709" algn="l" rtl="0" eaLnBrk="0">
              <a:lnSpc>
                <a:spcPct val="105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）短期的交通预测和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流量控制，在历史交通信息的基础上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预测给定时间内的机动车数量，将准确的实时交通预测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提供给道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路使用者和相关交通部门。谷歌地图使用机器学习预测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实时交通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状况。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5000"/>
              </a:lnSpc>
              <a:spcBef>
                <a:spcPts val="420"/>
              </a:spcBef>
              <a:tabLst/>
            </a:pP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）自动驾驶。分析路面上的不同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对象并选择车辆控制方式。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54965" algn="l" rtl="0" eaLnBrk="0">
              <a:lnSpc>
                <a:spcPts val="1500"/>
              </a:lnSpc>
              <a:spcBef>
                <a:spcPts val="616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金融行业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307340" algn="l" rtl="0" eaLnBrk="0">
              <a:lnSpc>
                <a:spcPct val="137000"/>
              </a:lnSpc>
              <a:spcBef>
                <a:spcPts val="368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金融领域中，使用机器学习算法完成风险评估与信用评分。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银行使用机器学习分析客户的收入、消费习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惯和信用记录，评估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贷款风险并决定是否批准贷款。诸如蚂蚁金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服使用机器学习为用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户提供信用评分（芝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麻信用）。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25754" algn="l" rtl="0" eaLnBrk="0">
              <a:lnSpc>
                <a:spcPts val="1495"/>
              </a:lnSpc>
              <a:spcBef>
                <a:spcPts val="3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零售与电商行业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38" name="table 38"/>
          <p:cNvGraphicFramePr>
            <a:graphicFrameLocks noGrp="1"/>
          </p:cNvGraphicFramePr>
          <p:nvPr/>
        </p:nvGraphicFramePr>
        <p:xfrm>
          <a:off x="767715" y="513206"/>
          <a:ext cx="1945005" cy="1239519"/>
        </p:xfrm>
        <a:graphic>
          <a:graphicData uri="http://schemas.openxmlformats.org/drawingml/2006/table">
            <a:tbl>
              <a:tblPr/>
              <a:tblGrid>
                <a:gridCol w="1945005"/>
              </a:tblGrid>
              <a:tr h="12331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668654" y="5446394"/>
          <a:ext cx="1945005" cy="1239520"/>
        </p:xfrm>
        <a:graphic>
          <a:graphicData uri="http://schemas.openxmlformats.org/drawingml/2006/table">
            <a:tbl>
              <a:tblPr/>
              <a:tblGrid>
                <a:gridCol w="1945005"/>
              </a:tblGrid>
              <a:tr h="1233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740283" y="2002155"/>
          <a:ext cx="1945004" cy="1239519"/>
        </p:xfrm>
        <a:graphic>
          <a:graphicData uri="http://schemas.openxmlformats.org/drawingml/2006/table">
            <a:tbl>
              <a:tblPr/>
              <a:tblGrid>
                <a:gridCol w="1945004"/>
              </a:tblGrid>
              <a:tr h="12331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2266" y="3616070"/>
            <a:ext cx="1945385" cy="1239773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8180" y="5455920"/>
            <a:ext cx="1926336" cy="1220723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77240" y="522732"/>
            <a:ext cx="1926336" cy="122072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49808" y="2011680"/>
            <a:ext cx="1926335" cy="1220723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457073" y="6846874"/>
            <a:ext cx="2353945" cy="545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0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机器学习的数据集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11784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数据集来源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450443" y="4909235"/>
            <a:ext cx="743584" cy="462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82" rIns="0" bIns="0"/>
          <a:lstStyle/>
          <a:p>
            <a:pPr marL="12700" indent="311150" algn="l" rtl="0" eaLnBrk="0">
              <a:lnSpc>
                <a:spcPct val="123000"/>
              </a:lnSpc>
              <a:spcBef>
                <a:spcPts val="2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农业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应用案例：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755243" y="1775739"/>
            <a:ext cx="743584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55"/>
              </a:lnSpc>
              <a:tabLst/>
            </a:pP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应用案例：</a:t>
            </a:r>
            <a:endParaRPr sz="11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e 58"/>
          <p:cNvGraphicFramePr>
            <a:graphicFrameLocks noGrp="1"/>
          </p:cNvGraphicFramePr>
          <p:nvPr/>
        </p:nvGraphicFramePr>
        <p:xfrm>
          <a:off x="938402" y="7197471"/>
          <a:ext cx="5678804" cy="2995295"/>
        </p:xfrm>
        <a:graphic>
          <a:graphicData uri="http://schemas.openxmlformats.org/drawingml/2006/table">
            <a:tbl>
              <a:tblPr/>
              <a:tblGrid>
                <a:gridCol w="5678804"/>
              </a:tblGrid>
              <a:tr h="2988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47927" y="7206995"/>
            <a:ext cx="5660135" cy="2976371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449833" y="497103"/>
            <a:ext cx="6715759" cy="1743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8770" algn="l" rtl="0" eaLnBrk="0">
              <a:lnSpc>
                <a:spcPct val="94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数据集通常由以下几个部分组成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04800" algn="l" rtl="0" eaLnBrk="0">
              <a:lnSpc>
                <a:spcPct val="133000"/>
              </a:lnSpc>
              <a:spcBef>
                <a:spcPts val="23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特征（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Features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）：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也叫输入数据，是模型用来学习的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线索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比如，预测房价时，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房子的面积、</a:t>
            </a:r>
            <a:r>
              <a:rPr sz="1200" kern="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位置、房间数量就是特征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一句话记住它：特征是那些你知道的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、能看到的信息。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05434" algn="l" rtl="0" eaLnBrk="0">
              <a:lnSpc>
                <a:spcPct val="133000"/>
              </a:lnSpc>
              <a:spcBef>
                <a:spcPts val="23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标签（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Labels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）：</a:t>
            </a:r>
            <a:r>
              <a:rPr sz="1200" b="1" kern="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也叫目标值，</a:t>
            </a:r>
            <a:r>
              <a:rPr sz="1200" b="1" kern="0" spc="-1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是模型需要预测的结果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。比如，房价本身就是一个标签。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一句话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记住它：标签是你想知道但还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不知道的答案。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5240" indent="301625" algn="l" rtl="0" eaLnBrk="0">
              <a:lnSpc>
                <a:spcPct val="128000"/>
              </a:lnSpc>
              <a:spcBef>
                <a:spcPts val="1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样本（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Samples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）：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每一行数据就是一个样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本，代表一个具体的例子。比如，一套房子的信息就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是一个样本。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一句话记住它：样本就是一个具体的例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子或一条完整的记录。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449224" y="3686823"/>
            <a:ext cx="6690994" cy="1228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8134" algn="l" rtl="0" eaLnBrk="0">
              <a:lnSpc>
                <a:spcPct val="94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根据数据的用途，数据集可以分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为以下几种：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0040" algn="l" rtl="0" eaLnBrk="0">
              <a:lnSpc>
                <a:spcPct val="92000"/>
              </a:lnSpc>
              <a:spcBef>
                <a:spcPts val="661"/>
              </a:spcBef>
              <a:tabLst/>
            </a:pPr>
            <a:r>
              <a:rPr sz="1200" b="1" kern="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训练集（</a:t>
            </a:r>
            <a:r>
              <a:rPr sz="1200" b="1" kern="0" spc="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Training S</a:t>
            </a:r>
            <a:r>
              <a:rPr sz="1200" b="1" kern="0" spc="-1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et</a:t>
            </a:r>
            <a:r>
              <a:rPr sz="1200" b="1" kern="0" spc="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用来训练模型，让模型学会从特征中预测标签。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04800" algn="l" rtl="0" eaLnBrk="0">
              <a:lnSpc>
                <a:spcPct val="133000"/>
              </a:lnSpc>
              <a:spcBef>
                <a:spcPts val="268"/>
              </a:spcBef>
              <a:tabLst/>
            </a:pPr>
            <a:r>
              <a:rPr sz="1200" b="1" kern="0" spc="-1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验证集（</a:t>
            </a:r>
            <a:r>
              <a:rPr sz="1200" b="1" kern="0" spc="-1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Validation Set</a:t>
            </a:r>
            <a:r>
              <a:rPr sz="1200" b="1" kern="0" spc="5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用来调整模型的参数，防止模型过拟合（即模型只记住了训练数据，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但不会处理新数据）。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8770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200" b="1" kern="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测试集（</a:t>
            </a:r>
            <a:r>
              <a:rPr sz="1200" b="1" kern="0" spc="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Test Set</a:t>
            </a:r>
            <a:r>
              <a:rPr sz="1200" b="1" kern="0" spc="3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用来评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估模型的最终性能，测试模型是否能够很好地处理新数据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66" name="table 66"/>
          <p:cNvGraphicFramePr>
            <a:graphicFrameLocks noGrp="1"/>
          </p:cNvGraphicFramePr>
          <p:nvPr/>
        </p:nvGraphicFramePr>
        <p:xfrm>
          <a:off x="2096642" y="4995290"/>
          <a:ext cx="3355975" cy="1652270"/>
        </p:xfrm>
        <a:graphic>
          <a:graphicData uri="http://schemas.openxmlformats.org/drawingml/2006/table">
            <a:tbl>
              <a:tblPr/>
              <a:tblGrid>
                <a:gridCol w="3355975"/>
              </a:tblGrid>
              <a:tr h="16459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06167" y="5004816"/>
            <a:ext cx="3337559" cy="1633728"/>
          </a:xfrm>
          <a:prstGeom prst="rect">
            <a:avLst/>
          </a:prstGeom>
        </p:spPr>
      </p:pic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1570862" y="2351151"/>
          <a:ext cx="4417059" cy="1201419"/>
        </p:xfrm>
        <a:graphic>
          <a:graphicData uri="http://schemas.openxmlformats.org/drawingml/2006/table">
            <a:tbl>
              <a:tblPr/>
              <a:tblGrid>
                <a:gridCol w="4417059"/>
              </a:tblGrid>
              <a:tr h="1195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2" name="picture 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80388" y="2360676"/>
            <a:ext cx="4398263" cy="1182623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457073" y="6807263"/>
            <a:ext cx="216344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机器学习的流程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table 76"/>
          <p:cNvGraphicFramePr>
            <a:graphicFrameLocks noGrp="1"/>
          </p:cNvGraphicFramePr>
          <p:nvPr/>
        </p:nvGraphicFramePr>
        <p:xfrm>
          <a:off x="694562" y="7229475"/>
          <a:ext cx="6157594" cy="2013585"/>
        </p:xfrm>
        <a:graphic>
          <a:graphicData uri="http://schemas.openxmlformats.org/drawingml/2006/table">
            <a:tbl>
              <a:tblPr/>
              <a:tblGrid>
                <a:gridCol w="6157594"/>
              </a:tblGrid>
              <a:tr h="20072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4088" y="7239000"/>
            <a:ext cx="6138671" cy="1994916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64182" y="3838575"/>
            <a:ext cx="4627626" cy="2463546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450443" y="548195"/>
            <a:ext cx="6666230" cy="1316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6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过拟合和欠拟合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4604" indent="302895" algn="l" rtl="0" eaLnBrk="0">
              <a:lnSpc>
                <a:spcPct val="133000"/>
              </a:lnSpc>
              <a:spcBef>
                <a:spcPts val="56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欠拟合：模型太简单，没有学到数据中的规律，导致在训练集和测试集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上表现都很差。原因通常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是：模型复杂度过低；特征量过少。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04800" algn="l" rtl="0" eaLnBrk="0">
              <a:lnSpc>
                <a:spcPct val="133000"/>
              </a:lnSpc>
              <a:spcBef>
                <a:spcPts val="22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过拟合：模型太复杂，把训练集中的噪声和细节都记住了，导致在训练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集上表现很好，但在测试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集上表现很差。原因通常是：训练数据集样本单一，样本不足；训练数据中噪声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干扰过大；模型过于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84" name="table 84"/>
          <p:cNvGraphicFramePr>
            <a:graphicFrameLocks noGrp="1"/>
          </p:cNvGraphicFramePr>
          <p:nvPr/>
        </p:nvGraphicFramePr>
        <p:xfrm>
          <a:off x="1825370" y="2148459"/>
          <a:ext cx="4176394" cy="1356994"/>
        </p:xfrm>
        <a:graphic>
          <a:graphicData uri="http://schemas.openxmlformats.org/drawingml/2006/table">
            <a:tbl>
              <a:tblPr/>
              <a:tblGrid>
                <a:gridCol w="4176394"/>
              </a:tblGrid>
              <a:tr h="13506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6" name="pictur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834895" y="2157984"/>
            <a:ext cx="4157471" cy="1338071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457073" y="6431635"/>
            <a:ext cx="2736214" cy="659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二、</a:t>
            </a:r>
            <a:r>
              <a:rPr sz="1700" kern="0" spc="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分类算法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25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五大经典算法对比</a:t>
            </a: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总览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457073" y="9372879"/>
            <a:ext cx="216344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2420" algn="l" rtl="0" eaLnBrk="0">
              <a:lnSpc>
                <a:spcPct val="94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分类算法选择的时机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0515" algn="l" rtl="0" eaLnBrk="0">
              <a:lnSpc>
                <a:spcPct val="95000"/>
              </a:lnSpc>
              <a:spcBef>
                <a:spcPts val="669"/>
              </a:spcBef>
              <a:tabLst/>
            </a:pPr>
            <a:r>
              <a:rPr sz="1200" u="sng" kern="0" spc="-1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  <a:hlinkClick xmlns:r="http://schemas.openxmlformats.org/officeDocument/2006/relationships" r:id="rId5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相关知识链接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数据的特征处理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757681" y="3567963"/>
            <a:ext cx="2150745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不同拟合状态在数据集中的表现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454558" y="1923567"/>
            <a:ext cx="447675" cy="195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37"/>
              </a:lnSpc>
              <a:tabLst/>
            </a:pPr>
            <a:r>
              <a:rPr sz="10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复杂。</a:t>
            </a:r>
            <a:endParaRPr sz="10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6"/>
          <p:cNvSpPr/>
          <p:nvPr/>
        </p:nvSpPr>
        <p:spPr>
          <a:xfrm>
            <a:off x="448614" y="497103"/>
            <a:ext cx="6701790" cy="4576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8770" algn="l" rtl="0" eaLnBrk="0">
              <a:lnSpc>
                <a:spcPct val="83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特征处理就像给数据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化妆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整理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，让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机器学习算法能更好地理解和学习数据中的规律。就像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5240" algn="l" rtl="0" eaLnBrk="0">
              <a:lnSpc>
                <a:spcPts val="2027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我们要把食材清洗、切块后才能烹饪一样，原始数据也需要经过处理才能被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算法有效使用。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770" algn="l" rtl="0" eaLnBrk="0">
              <a:lnSpc>
                <a:spcPct val="95000"/>
              </a:lnSpc>
              <a:spcBef>
                <a:spcPts val="831"/>
              </a:spcBef>
              <a:tabLst/>
            </a:pPr>
            <a:r>
              <a:rPr sz="1200" u="sng" kern="0" spc="-10" dirty="0">
                <a:solidFill>
                  <a:srgbClr val="800080">
                    <a:alpha val="100000"/>
                  </a:srgbClr>
                </a:solidFill>
                <a:latin typeface="SimSun"/>
                <a:ea typeface="SimSun"/>
                <a:cs typeface="SimSun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800080"/>
                      <wpsdc:folHlinkClr xmlns:wpsdc="http://www.wps.cn/officeDocument/2017/drawingmlCustomData" val="800080"/>
                      <wpsdc:hlinkUnderline xmlns:wpsdc="http://www.wps.cn/officeDocument/2017/drawingmlCustomData" val="0"/>
                    </a:ext>
                  </a:extLst>
                </a:hlinkClick>
              </a:rPr>
              <a:t>相关知识链接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20954" algn="l" rtl="0" eaLnBrk="0">
              <a:lnSpc>
                <a:spcPct val="95000"/>
              </a:lnSpc>
              <a:spcBef>
                <a:spcPts val="1057"/>
              </a:spcBef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分类算法的评估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3334" indent="304800" algn="l" rtl="0" eaLnBrk="0">
              <a:lnSpc>
                <a:spcPct val="135000"/>
              </a:lnSpc>
              <a:spcBef>
                <a:spcPts val="60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在机器学习中，仅仅训练一个模型是不够的。我们需要知道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这个模型在现实世界中的表现如何。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评估指标就像考试的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评分标准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，帮助我们判断模型的好坏，比较不同模型的性能，并指导我们改进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模型。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6509" indent="304800" algn="l" rtl="0" eaLnBrk="0">
              <a:lnSpc>
                <a:spcPct val="133000"/>
              </a:lnSpc>
              <a:spcBef>
                <a:spcPts val="226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不同的评估指标从不同角度衡量模型性能，有些关注整体准确率，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有些关注特定类别的表现，有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些则关注模型的预测概率质量。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770" algn="l" rtl="0" eaLnBrk="0">
              <a:lnSpc>
                <a:spcPct val="95000"/>
              </a:lnSpc>
              <a:spcBef>
                <a:spcPts val="665"/>
              </a:spcBef>
              <a:tabLst/>
            </a:pPr>
            <a:r>
              <a:rPr sz="1200" u="sng" kern="0" spc="-10" dirty="0">
                <a:solidFill>
                  <a:srgbClr val="800080">
                    <a:alpha val="100000"/>
                  </a:srgbClr>
                </a:solidFill>
                <a:latin typeface="SimSun"/>
                <a:ea typeface="SimSun"/>
                <a:cs typeface="SimSun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800080"/>
                      <wpsdc:folHlinkClr xmlns:wpsdc="http://www.wps.cn/officeDocument/2017/drawingmlCustomData" val="800080"/>
                      <wpsdc:hlinkUnderline xmlns:wpsdc="http://www.wps.cn/officeDocument/2017/drawingmlCustomData" val="0"/>
                    </a:ext>
                  </a:extLst>
                </a:hlinkClick>
              </a:rPr>
              <a:t>相关知识链接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20954" algn="l" rtl="0" eaLnBrk="0">
              <a:lnSpc>
                <a:spcPct val="96000"/>
              </a:lnSpc>
              <a:spcBef>
                <a:spcPts val="1045"/>
              </a:spcBef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逻辑回归算法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indent="305434" algn="l" rtl="0" eaLnBrk="0">
              <a:lnSpc>
                <a:spcPct val="133000"/>
              </a:lnSpc>
              <a:spcBef>
                <a:spcPts val="568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逻辑回归是一个“侦探模型</a:t>
            </a:r>
            <a:r>
              <a:rPr sz="1200" kern="0" spc="-4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”，它通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过分析数据特征，预测某个事件发生的概率（比如用户是否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贷款违约、邮件是否是垃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圾邮件）。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0675" algn="l" rtl="0" eaLnBrk="0">
              <a:lnSpc>
                <a:spcPct val="95000"/>
              </a:lnSpc>
              <a:spcBef>
                <a:spcPts val="665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核心思想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134" algn="l" rtl="0" eaLnBrk="0">
              <a:lnSpc>
                <a:spcPct val="95000"/>
              </a:lnSpc>
              <a:spcBef>
                <a:spcPts val="655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输入：特征数据（如年龄、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收入、负债）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134" algn="l" rtl="0" eaLnBrk="0">
              <a:lnSpc>
                <a:spcPct val="83000"/>
              </a:lnSpc>
              <a:spcBef>
                <a:spcPts val="667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输出：概率值（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0~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之间，例如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0.8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表示有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80%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的可能性属于正类）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1309" algn="l" rtl="0" eaLnBrk="0">
              <a:lnSpc>
                <a:spcPts val="2028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关键公式：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450443" y="6082563"/>
            <a:ext cx="6717030" cy="3806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3569" algn="l" rtl="0" eaLnBrk="0">
              <a:lnSpc>
                <a:spcPct val="83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比喻：就像用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加权打分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判断是否通过考试，分数超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过某个阈值就判定为“通过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”。它的原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1270" algn="l" rtl="0" eaLnBrk="0">
              <a:lnSpc>
                <a:spcPct val="147000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理是通过一个特殊的函数（逻辑函数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把输入的数据转化为一个概率值，这个概率值表示数据属于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某一类的可能性。如果概率值大于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0.5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，我们就认为数据属于这一类；如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果小于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0.5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，就属于另一类。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6865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优缺点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454025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优点：计算速度快、结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果可解释性强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454659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缺点：只能处理线性可分问题（复杂的非线性问题需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要其他模型）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6865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逻辑回归参数设定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6865" algn="l" rtl="0" eaLnBrk="0">
              <a:lnSpc>
                <a:spcPct val="94000"/>
              </a:lnSpc>
              <a:spcBef>
                <a:spcPts val="67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逻辑回归是机器学习中最常用的分类算法之一，但它的参数名称常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常让人困惑。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ct val="95000"/>
              </a:lnSpc>
              <a:spcBef>
                <a:spcPts val="669"/>
              </a:spcBef>
              <a:tabLst/>
            </a:pPr>
            <a:r>
              <a:rPr sz="1200" b="1" u="sng" kern="0" spc="-2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0000FF"/>
                      <wpsdc:hlinkUnderline xmlns:wpsdc="http://www.wps.cn/officeDocument/2017/drawingmlCustomData" val="0"/>
                    </a:ext>
                  </a:extLst>
                </a:hlinkClick>
              </a:rPr>
              <a:t>相关知识链接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0675" algn="l" rtl="0" eaLnBrk="0">
              <a:lnSpc>
                <a:spcPct val="83000"/>
              </a:lnSpc>
              <a:spcBef>
                <a:spcPts val="662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实战案例：用户信用检测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6865" algn="l" rtl="0" eaLnBrk="0">
              <a:lnSpc>
                <a:spcPts val="2027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任务目标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ct val="95000"/>
              </a:lnSpc>
              <a:spcBef>
                <a:spcPts val="826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基于用户年龄、收入、负债等特征，预测其信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用是否良好。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134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数据集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ts val="1613"/>
              </a:lnSpc>
              <a:spcBef>
                <a:spcPts val="447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字段：年龄、月收入、负债比率、历史逾期次数、信用标签（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0=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差，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1=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好）样本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3000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条数据。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6865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模型训练实现代码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42950" y="7359014"/>
            <a:ext cx="160655" cy="160654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42950" y="7101205"/>
            <a:ext cx="160655" cy="160654"/>
          </a:xfrm>
          <a:prstGeom prst="rect">
            <a:avLst/>
          </a:prstGeom>
        </p:spPr>
      </p:pic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1852802" y="5173598"/>
          <a:ext cx="4145915" cy="668020"/>
        </p:xfrm>
        <a:graphic>
          <a:graphicData uri="http://schemas.openxmlformats.org/drawingml/2006/table">
            <a:tbl>
              <a:tblPr/>
              <a:tblGrid>
                <a:gridCol w="4145915"/>
              </a:tblGrid>
              <a:tr h="661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6" name="picture 1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862327" y="5183124"/>
            <a:ext cx="4126991" cy="649223"/>
          </a:xfrm>
          <a:prstGeom prst="rect">
            <a:avLst/>
          </a:prstGeom>
        </p:spPr>
      </p:pic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385571" y="9907269"/>
          <a:ext cx="6776084" cy="274955"/>
        </p:xfrm>
        <a:graphic>
          <a:graphicData uri="http://schemas.openxmlformats.org/drawingml/2006/table">
            <a:tbl>
              <a:tblPr/>
              <a:tblGrid>
                <a:gridCol w="6776084"/>
              </a:tblGrid>
              <a:tr h="2717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b="1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0" name="pictur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42950" y="5917565"/>
            <a:ext cx="319405" cy="3194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385571" y="457200"/>
          <a:ext cx="6776084" cy="9546590"/>
        </p:xfrm>
        <a:graphic>
          <a:graphicData uri="http://schemas.openxmlformats.org/drawingml/2006/table">
            <a:tbl>
              <a:tblPr/>
              <a:tblGrid>
                <a:gridCol w="6776084"/>
              </a:tblGrid>
              <a:tr h="95434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7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sklearn.exceptions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Converg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enceWarning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1280" algn="l" rtl="0" eaLnBrk="0">
                        <a:lnSpc>
                          <a:spcPct val="77000"/>
                        </a:lnSpc>
                        <a:spcBef>
                          <a:spcPts val="1092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sklearn.mo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del</a:t>
                      </a:r>
                      <a:r>
                        <a:rPr sz="1000" b="1" u="sng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5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selection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u="sng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5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u="sng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split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1280" algn="l" rtl="0" eaLnBrk="0">
                        <a:lnSpc>
                          <a:spcPct val="77000"/>
                        </a:lnSpc>
                        <a:spcBef>
                          <a:spcPts val="1116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sklearn.preprocessing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OneHotEncoder,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ardScaler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1280" algn="l" rtl="0" eaLnBrk="0">
                        <a:lnSpc>
                          <a:spcPct val="77000"/>
                        </a:lnSpc>
                        <a:spcBef>
                          <a:spcPts val="1092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sklearn.compose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ColumnTr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ansformer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1280" algn="l" rtl="0" eaLnBrk="0">
                        <a:lnSpc>
                          <a:spcPct val="77000"/>
                        </a:lnSpc>
                        <a:spcBef>
                          <a:spcPts val="1104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sklearn.pipeli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ne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9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1280" algn="l" rtl="0" eaLnBrk="0">
                        <a:lnSpc>
                          <a:spcPct val="77000"/>
                        </a:lnSpc>
                        <a:spcBef>
                          <a:spcPts val="1116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sklearn.linear</a:t>
                      </a:r>
                      <a:r>
                        <a:rPr sz="1000" b="1" u="sng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Logisti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cRegression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1280" algn="l" rtl="0" eaLnBrk="0">
                        <a:lnSpc>
                          <a:spcPct val="77000"/>
                        </a:lnSpc>
                        <a:spcBef>
                          <a:spcPts val="1092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b="1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</a:t>
                      </a:r>
                      <a:r>
                        <a:rPr sz="1000" b="1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metrics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b="1" u="sng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5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classification</a:t>
                      </a:r>
                      <a:r>
                        <a:rPr sz="1000" b="1" u="sng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report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confusion</a:t>
                      </a:r>
                      <a:r>
                        <a:rPr sz="1000" b="1" u="sng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matrix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8105" algn="l" rtl="0" eaLnBrk="0">
                        <a:lnSpc>
                          <a:spcPts val="695"/>
                        </a:lnSpc>
                        <a:spcBef>
                          <a:spcPts val="1307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roc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auc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05434" algn="l" rtl="0" eaLnBrk="0">
                        <a:lnSpc>
                          <a:spcPts val="41"/>
                        </a:lnSpc>
                        <a:tabLst/>
                      </a:pP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375" algn="l" rtl="0" eaLnBrk="0">
                        <a:lnSpc>
                          <a:spcPct val="77000"/>
                        </a:lnSpc>
                        <a:spcBef>
                          <a:spcPts val="1088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1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1280" algn="l" rtl="0" eaLnBrk="0">
                        <a:lnSpc>
                          <a:spcPct val="77000"/>
                        </a:lnSpc>
                        <a:spcBef>
                          <a:spcPts val="1104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sklearn.model</a:t>
                      </a:r>
                      <a:r>
                        <a:rPr sz="1000" b="1" u="sng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5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selection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GridSearchCV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375" algn="l" rtl="0" eaLnBrk="0">
                        <a:lnSpc>
                          <a:spcPct val="77000"/>
                        </a:lnSpc>
                        <a:spcBef>
                          <a:spcPts val="1116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4455" algn="l" rtl="0" eaLnBrk="0">
                        <a:lnSpc>
                          <a:spcPts val="1441"/>
                        </a:lnSpc>
                        <a:spcBef>
                          <a:spcPts val="815"/>
                        </a:spcBef>
                        <a:tabLst/>
                      </a:pP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=================</a:t>
                      </a:r>
                      <a:r>
                        <a:rPr sz="1000" b="1" i="1" kern="0" spc="-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模型参数优化</a:t>
                      </a:r>
                      <a:r>
                        <a:rPr sz="1000" kern="0" spc="-1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</a:t>
                      </a:r>
                      <a:r>
                        <a:rPr sz="1000" b="1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5564" algn="l" rtl="0" eaLnBrk="0">
                        <a:lnSpc>
                          <a:spcPct val="78000"/>
                        </a:lnSpc>
                        <a:spcBef>
                          <a:spcPts val="867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b="1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10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optimization</a:t>
                      </a:r>
                      <a:r>
                        <a:rPr sz="1000" b="1" kern="0" spc="-31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ct val="77000"/>
                        </a:lnSpc>
                        <a:spcBef>
                          <a:spcPts val="1088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param</a:t>
                      </a:r>
                      <a:r>
                        <a:rPr sz="1000" b="1" u="sng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2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35634" algn="l" rtl="0" eaLnBrk="0">
                        <a:lnSpc>
                          <a:spcPct val="78000"/>
                        </a:lnSpc>
                        <a:spcBef>
                          <a:spcPts val="1090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classifier</a:t>
                      </a:r>
                      <a:r>
                        <a:rPr sz="1000" b="1" u="sng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</a:t>
                      </a:r>
                      <a:r>
                        <a:rPr sz="1000" b="1" kern="0" spc="-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b="1" kern="0" spc="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0.001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0.01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35634" algn="l" rtl="0" eaLnBrk="0">
                        <a:lnSpc>
                          <a:spcPct val="78000"/>
                        </a:lnSpc>
                        <a:spcBef>
                          <a:spcPts val="1106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'classifier</a:t>
                      </a:r>
                      <a:r>
                        <a:rPr sz="1000" b="1" u="sng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penalty</a:t>
                      </a:r>
                      <a:r>
                        <a:rPr sz="1000" b="1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b="1" kern="0" spc="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'l1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'l2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35634" algn="l" rtl="0" eaLnBrk="0">
                        <a:lnSpc>
                          <a:spcPct val="77000"/>
                        </a:lnSpc>
                        <a:spcBef>
                          <a:spcPts val="1092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'classifier</a:t>
                      </a:r>
                      <a:r>
                        <a:rPr sz="1000" b="1" u="sng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5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so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lver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b="1" kern="0" spc="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'liblinear</a:t>
                      </a:r>
                      <a:r>
                        <a:rPr sz="1000" b="1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'saga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'lbfgs</a:t>
                      </a:r>
                      <a:r>
                        <a:rPr sz="1000" b="1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35634" algn="l" rtl="0" eaLnBrk="0">
                        <a:lnSpc>
                          <a:spcPct val="78000"/>
                        </a:lnSpc>
                        <a:spcBef>
                          <a:spcPts val="1102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'classifier</a:t>
                      </a:r>
                      <a:r>
                        <a:rPr sz="1000" b="1" u="sng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max</a:t>
                      </a:r>
                      <a:r>
                        <a:rPr sz="1000" b="1" u="sng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ter</a:t>
                      </a:r>
                      <a:r>
                        <a:rPr sz="1000" b="1" kern="0" spc="-3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b="1" kern="0" spc="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100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1000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60045" algn="l" rtl="0" eaLnBrk="0">
                        <a:lnSpc>
                          <a:spcPct val="76000"/>
                        </a:lnSpc>
                        <a:spcBef>
                          <a:spcPts val="1103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30"/>
                        </a:spcBef>
                        <a:tabLst/>
                      </a:pP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忽略收敛警告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7820" algn="l" rtl="0" eaLnBrk="0">
                        <a:lnSpc>
                          <a:spcPct val="78000"/>
                        </a:lnSpc>
                        <a:spcBef>
                          <a:spcPts val="867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with</a:t>
                      </a:r>
                      <a:r>
                        <a:rPr sz="1000" b="1" kern="0" spc="9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r>
                        <a:rPr sz="1000" b="1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catch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r>
                        <a:rPr sz="1000" b="1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3884" algn="l" rtl="0" eaLnBrk="0">
                        <a:lnSpc>
                          <a:spcPts val="2016"/>
                        </a:lnSpc>
                        <a:spcBef>
                          <a:spcPts val="60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正在参数寻优中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b="1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4519" algn="l" rtl="0" eaLnBrk="0">
                        <a:lnSpc>
                          <a:spcPct val="77000"/>
                        </a:lnSpc>
                        <a:spcBef>
                          <a:spcPts val="1051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r>
                        <a:rPr sz="1000" b="1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filterwarnings</a:t>
                      </a:r>
                      <a:r>
                        <a:rPr sz="1000" b="1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1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ignore</a:t>
                      </a:r>
                      <a:r>
                        <a:rPr sz="1000" b="1" kern="0" spc="1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category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ConvergenceWarning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8965" algn="l" rtl="0" eaLnBrk="0">
                        <a:lnSpc>
                          <a:spcPct val="78000"/>
                        </a:lnSpc>
                        <a:spcBef>
                          <a:spcPts val="1084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GridSearchCV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param</a:t>
                      </a:r>
                      <a:r>
                        <a:rPr sz="1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cv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8965" algn="l" rtl="0" eaLnBrk="0">
                        <a:lnSpc>
                          <a:spcPct val="78000"/>
                        </a:lnSpc>
                        <a:spcBef>
                          <a:spcPts val="1092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fit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3884" algn="l" rtl="0" eaLnBrk="0">
                        <a:lnSpc>
                          <a:spcPts val="1222"/>
                        </a:lnSpc>
                        <a:spcBef>
                          <a:spcPts val="974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最优参数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b="1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params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4804" algn="l" rtl="0" eaLnBrk="0">
                        <a:lnSpc>
                          <a:spcPct val="154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b="1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b="1" u="sng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ct val="78000"/>
                        </a:lnSpc>
                        <a:spcBef>
                          <a:spcPts val="304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b="1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b="1" kern="0" spc="13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engineering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r>
                        <a:rPr sz="1000" b="1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24"/>
                        </a:spcBef>
                        <a:tabLst/>
                      </a:pP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=================</a:t>
                      </a:r>
                      <a:r>
                        <a:rPr sz="1000" b="1" i="1" kern="0" spc="-1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特征工程</a:t>
                      </a:r>
                      <a:r>
                        <a:rPr sz="1000" kern="0" spc="-2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</a:t>
                      </a:r>
                      <a:r>
                        <a:rPr sz="1000" b="1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2028"/>
                        </a:lnSpc>
                        <a:tabLst/>
                      </a:pPr>
                      <a:r>
                        <a:rPr sz="1000" b="1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定义特征类型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1629" algn="l" rtl="0" eaLnBrk="0">
                        <a:lnSpc>
                          <a:spcPts val="1210"/>
                        </a:lnSpc>
                        <a:spcBef>
                          <a:spcPts val="737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numeric</a:t>
                      </a: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features</a:t>
                      </a: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年龄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收入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负债比率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5440" algn="l" rtl="0" eaLnBrk="0">
                        <a:lnSpc>
                          <a:spcPts val="2028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categorical</a:t>
                      </a: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features</a:t>
                      </a: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工作类型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信用历史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667"/>
                        </a:spcBef>
                        <a:tabLst/>
                      </a:pP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构建预处理管道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7184" algn="l" rtl="0" eaLnBrk="0">
                        <a:lnSpc>
                          <a:spcPct val="77000"/>
                        </a:lnSpc>
                        <a:spcBef>
                          <a:spcPts val="864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preprocessor</a:t>
                      </a: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ColumnTransfo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rmer</a:t>
                      </a:r>
                      <a:r>
                        <a:rPr sz="1000" b="1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4044" algn="l" rtl="0" eaLnBrk="0">
                        <a:lnSpc>
                          <a:spcPct val="76000"/>
                        </a:lnSpc>
                        <a:spcBef>
                          <a:spcPts val="1113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transformers</a:t>
                      </a:r>
                      <a:r>
                        <a:rPr sz="1000" b="1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6144" algn="l" rtl="0" eaLnBrk="0">
                        <a:lnSpc>
                          <a:spcPct val="7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num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StandardScaler</a:t>
                      </a:r>
                      <a:r>
                        <a:rPr sz="1000" b="1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(),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numeric</a:t>
                      </a:r>
                      <a:r>
                        <a:rPr sz="1000" b="1" u="sng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features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table 114"/>
          <p:cNvGraphicFramePr>
            <a:graphicFrameLocks noGrp="1"/>
          </p:cNvGraphicFramePr>
          <p:nvPr/>
        </p:nvGraphicFramePr>
        <p:xfrm>
          <a:off x="385571" y="457200"/>
          <a:ext cx="6776084" cy="9546590"/>
        </p:xfrm>
        <a:graphic>
          <a:graphicData uri="http://schemas.openxmlformats.org/drawingml/2006/table">
            <a:tbl>
              <a:tblPr/>
              <a:tblGrid>
                <a:gridCol w="6776084"/>
              </a:tblGrid>
              <a:tr h="95434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6144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cat</a:t>
                      </a:r>
                      <a:r>
                        <a:rPr sz="1000" b="1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OneHotEncoder</a:t>
                      </a:r>
                      <a:r>
                        <a:rPr sz="1000" b="1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handle</a:t>
                      </a:r>
                      <a:r>
                        <a:rPr sz="1000" b="1" kern="0" spc="10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unknown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ignore</a:t>
                      </a:r>
                      <a:r>
                        <a:rPr sz="1000" b="1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),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categorical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features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1030" algn="l" rtl="0" eaLnBrk="0">
                        <a:lnSpc>
                          <a:spcPct val="77000"/>
                        </a:lnSpc>
                        <a:spcBef>
                          <a:spcPts val="1086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4804" algn="l" rtl="0" eaLnBrk="0">
                        <a:lnSpc>
                          <a:spcPct val="74000"/>
                        </a:lnSpc>
                        <a:spcBef>
                          <a:spcPts val="1155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b="1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processor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4455" algn="l" rtl="0" eaLnBrk="0">
                        <a:lnSpc>
                          <a:spcPts val="1441"/>
                        </a:lnSpc>
                        <a:spcBef>
                          <a:spcPts val="816"/>
                        </a:spcBef>
                        <a:tabLst/>
                      </a:pP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=================</a:t>
                      </a:r>
                      <a:r>
                        <a:rPr sz="1000" b="1" i="1" kern="0" spc="-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逻辑回归模型训练</a:t>
                      </a:r>
                      <a:r>
                        <a:rPr sz="1000" kern="0" spc="-2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============</a:t>
                      </a:r>
                      <a:r>
                        <a:rPr sz="1000" b="1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5564" algn="l" rtl="0" eaLnBrk="0">
                        <a:lnSpc>
                          <a:spcPct val="78000"/>
                        </a:lnSpc>
                        <a:spcBef>
                          <a:spcPts val="855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b="1" kern="0" spc="9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9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logistic</a:t>
                      </a:r>
                      <a:r>
                        <a:rPr sz="1000" b="1" kern="0" spc="9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regression</a:t>
                      </a:r>
                      <a:r>
                        <a:rPr sz="1000" b="1" kern="0" spc="-27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36"/>
                        </a:spcBef>
                        <a:tabLst/>
                      </a:pP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=================</a:t>
                      </a:r>
                      <a:r>
                        <a:rPr sz="1000" b="1" i="1" kern="0" spc="-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训练数据划分</a:t>
                      </a:r>
                      <a:r>
                        <a:rPr sz="1000" kern="0" spc="-1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</a:t>
                      </a:r>
                      <a:r>
                        <a:rPr sz="1000" b="1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9725" algn="l" rtl="0" eaLnBrk="0">
                        <a:lnSpc>
                          <a:spcPct val="78000"/>
                        </a:lnSpc>
                        <a:spcBef>
                          <a:spcPts val="843"/>
                        </a:spcBef>
                        <a:tabLst/>
                      </a:pP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4044" algn="l" rtl="0" eaLnBrk="0">
                        <a:lnSpc>
                          <a:spcPct val="78000"/>
                        </a:lnSpc>
                        <a:spcBef>
                          <a:spcPts val="1104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split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7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size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7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0.2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2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random</a:t>
                      </a:r>
                      <a:r>
                        <a:rPr sz="1000" b="1" kern="0" spc="7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state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7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42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ct val="78000"/>
                        </a:lnSpc>
                        <a:spcBef>
                          <a:spcPts val="1080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preprocessor</a:t>
                      </a:r>
                      <a:r>
                        <a:rPr sz="10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b="1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engineering</a:t>
                      </a:r>
                      <a:r>
                        <a:rPr sz="1000" b="1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ct val="77000"/>
                        </a:lnSpc>
                        <a:spcBef>
                          <a:spcPts val="1100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pipline</a:t>
                      </a:r>
                      <a:r>
                        <a:rPr sz="10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b="1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4680" algn="l" rtl="0" eaLnBrk="0">
                        <a:lnSpc>
                          <a:spcPct val="77000"/>
                        </a:lnSpc>
                        <a:spcBef>
                          <a:spcPts val="1116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steps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preprocessor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preprocessor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06169" algn="l" rtl="0" eaLnBrk="0">
                        <a:lnSpc>
                          <a:spcPct val="77000"/>
                        </a:lnSpc>
                        <a:spcBef>
                          <a:spcPts val="1092"/>
                        </a:spcBef>
                        <a:tabLst/>
                      </a:pP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classifier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LogisticRegression</a:t>
                      </a:r>
                      <a:r>
                        <a:rPr sz="1000" b="1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())]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3695" algn="l" rtl="0" eaLnBrk="0">
                        <a:lnSpc>
                          <a:spcPct val="77000"/>
                        </a:lnSpc>
                        <a:spcBef>
                          <a:spcPts val="1113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18"/>
                        </a:spcBef>
                        <a:tabLst/>
                      </a:pPr>
                      <a:r>
                        <a:rPr sz="1000" b="1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</a:t>
                      </a:r>
                      <a:r>
                        <a:rPr sz="1000" b="1" i="1" kern="0" spc="-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进行模型的参数寻优</a:t>
                      </a:r>
                      <a:r>
                        <a:rPr sz="1000" kern="0" spc="-2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根据寻优结果重新定义</a:t>
                      </a:r>
                      <a:r>
                        <a:rPr sz="1000" kern="0" spc="-2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================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2265" algn="l" rtl="0" eaLnBrk="0">
                        <a:lnSpc>
                          <a:spcPct val="78000"/>
                        </a:lnSpc>
                        <a:spcBef>
                          <a:spcPts val="855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optimization</a:t>
                      </a:r>
                      <a:r>
                        <a:rPr sz="1000" b="1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pipline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36"/>
                        </a:spcBef>
                        <a:tabLst/>
                      </a:pPr>
                      <a:r>
                        <a:rPr sz="1000" b="1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6550" algn="l" rtl="0" eaLnBrk="0">
                        <a:lnSpc>
                          <a:spcPct val="74000"/>
                        </a:lnSpc>
                        <a:spcBef>
                          <a:spcPts val="857"/>
                        </a:spcBef>
                        <a:tabLst>
                          <a:tab pos="3543300" algn="l"/>
                        </a:tabLst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b="1" u="sng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b="1" u="sng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b="1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b="1" u="sng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estimator</a:t>
                      </a:r>
                      <a:r>
                        <a:rPr sz="1000" b="1" u="sng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	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6550" algn="l" rtl="0" eaLnBrk="0">
                        <a:lnSpc>
                          <a:spcPts val="2135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fit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751"/>
                        </a:spcBef>
                        <a:tabLst/>
                      </a:pP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=================</a:t>
                      </a:r>
                      <a:r>
                        <a:rPr sz="1000" b="1" i="1" kern="0" spc="-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模型训练模型</a:t>
                      </a:r>
                      <a:r>
                        <a:rPr sz="1000" kern="0" spc="-1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</a:t>
                      </a:r>
                      <a:r>
                        <a:rPr sz="1000" b="1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8000"/>
                        </a:lnSpc>
                        <a:spcBef>
                          <a:spcPts val="855"/>
                        </a:spcBef>
                        <a:tabLst/>
                      </a:pP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8000"/>
                        </a:lnSpc>
                        <a:spcBef>
                          <a:spcPts val="1104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</a:t>
                      </a:r>
                      <a:r>
                        <a:rPr sz="1000" b="1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b="1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:,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12"/>
                        </a:spcBef>
                        <a:tabLst/>
                      </a:pP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================</a:t>
                      </a:r>
                      <a:r>
                        <a:rPr sz="1000" b="1" i="1" kern="0" spc="-1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训练模型的评估</a:t>
                      </a:r>
                      <a:r>
                        <a:rPr sz="1000" kern="0" spc="3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=========</a:t>
                      </a:r>
                      <a:r>
                        <a:rPr sz="1000" b="1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ct val="96000"/>
                        </a:lnSpc>
                        <a:spcBef>
                          <a:spcPts val="732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测试集准确率</a:t>
                      </a:r>
                      <a:r>
                        <a:rPr sz="1000" kern="0" spc="-1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4219" algn="l" rtl="0" eaLnBrk="0">
                        <a:lnSpc>
                          <a:spcPct val="78000"/>
                        </a:lnSpc>
                        <a:spcBef>
                          <a:spcPts val="1000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round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b="1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),</a:t>
                      </a:r>
                      <a:r>
                        <a:rPr sz="1000" b="1" kern="0" spc="6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53109" algn="l" rtl="0" eaLnBrk="0">
                        <a:lnSpc>
                          <a:spcPts val="1877"/>
                        </a:lnSpc>
                        <a:spcBef>
                          <a:spcPts val="60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ct val="97000"/>
                        </a:lnSpc>
                        <a:spcBef>
                          <a:spcPts val="1058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b="1" kern="0" spc="-26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分类报告</a:t>
                      </a:r>
                      <a:r>
                        <a:rPr sz="1000" kern="0" spc="-2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ct val="147000"/>
                        </a:lnSpc>
                        <a:spcBef>
                          <a:spcPts val="436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classification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report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b="1" kern="0" spc="3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差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]))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          </a:t>
                      </a: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7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</a:t>
                      </a:r>
                      <a:r>
                        <a:rPr sz="1000" b="1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AUC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ROC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round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roc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auc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b="1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),</a:t>
                      </a:r>
                      <a:r>
                        <a:rPr sz="1000" b="1" kern="0" spc="6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12"/>
                        </a:spcBef>
                        <a:tabLst/>
                      </a:pP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保存训练好的模型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9250" algn="l" rtl="0" eaLnBrk="0">
                        <a:lnSpc>
                          <a:spcPct val="78000"/>
                        </a:lnSpc>
                        <a:spcBef>
                          <a:spcPts val="855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r>
                        <a:rPr sz="1000" b="1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dump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credit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6000"/>
                        </a:lnSpc>
                        <a:spcBef>
                          <a:spcPts val="300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b="1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u="sng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</a:t>
                      </a:r>
                      <a:r>
                        <a:rPr sz="1000" b="1" u="sng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b="1" kern="0" spc="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u="sng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mai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</a:t>
                      </a:r>
                      <a:r>
                        <a:rPr sz="1000" b="1" u="sng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4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36"/>
                        </a:spcBef>
                        <a:tabLst/>
                      </a:pPr>
                      <a:r>
                        <a:rPr sz="1000" b="1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读取训练数据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7345" algn="l" rtl="0" eaLnBrk="0">
                        <a:lnSpc>
                          <a:spcPct val="83000"/>
                        </a:lnSpc>
                        <a:spcBef>
                          <a:spcPts val="795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read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b="1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customer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credit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b="1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824"/>
                        </a:spcBef>
                        <a:tabLst/>
                      </a:pP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定义特征和目标变量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9725" algn="l" rtl="0" eaLnBrk="0">
                        <a:lnSpc>
                          <a:spcPts val="1210"/>
                        </a:lnSpc>
                        <a:spcBef>
                          <a:spcPts val="737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drop</a:t>
                      </a:r>
                      <a:r>
                        <a:rPr sz="1000" b="1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信</a:t>
                      </a: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用标签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axis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2027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train_data</a:t>
                      </a:r>
                      <a:r>
                        <a:rPr sz="1000" b="1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信用标签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16"/>
          <p:cNvSpPr/>
          <p:nvPr/>
        </p:nvSpPr>
        <p:spPr>
          <a:xfrm>
            <a:off x="442950" y="6466611"/>
            <a:ext cx="6819900" cy="3547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5120" algn="l" rtl="0" eaLnBrk="0">
              <a:lnSpc>
                <a:spcPct val="83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这就是决策树！计算机会用数学方法（信息增益）自动找到最佳判断顺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序，就像帮你做选择题的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23495" algn="l" rtl="0" eaLnBrk="0">
              <a:lnSpc>
                <a:spcPts val="2027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智能助手。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6390" algn="l" rtl="0" eaLnBrk="0">
              <a:lnSpc>
                <a:spcPct val="95000"/>
              </a:lnSpc>
              <a:spcBef>
                <a:spcPts val="831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核心思想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9565" algn="l" rtl="0" eaLnBrk="0">
              <a:lnSpc>
                <a:spcPct val="94000"/>
              </a:lnSpc>
              <a:spcBef>
                <a:spcPts val="665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决策树就是用计算机模拟这个过程：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21590" indent="304800" algn="l" rtl="0" eaLnBrk="0">
              <a:lnSpc>
                <a:spcPct val="136000"/>
              </a:lnSpc>
              <a:spcBef>
                <a:spcPts val="233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核心逻辑：从“根节点</a:t>
            </a:r>
            <a:r>
              <a:rPr sz="1200" kern="0" spc="-4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”开始（如“今天要不要出门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根据数据特征（如“天气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”“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温度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“是否堵车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”）</a:t>
            </a:r>
            <a:r>
              <a:rPr sz="1200" b="1" kern="0" spc="-1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逐层提问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，每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个问题对应一个“分支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”，</a:t>
            </a:r>
            <a:r>
              <a:rPr sz="1200" b="1" kern="0" spc="-2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最终在“叶子节点</a:t>
            </a:r>
            <a:r>
              <a:rPr sz="1200" kern="0" spc="-43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”得出结论（如“</a:t>
            </a:r>
            <a:r>
              <a:rPr sz="1200" kern="0" spc="-45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出门</a:t>
            </a:r>
            <a:r>
              <a:rPr sz="1200" kern="0" spc="-43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r>
              <a:rPr sz="1200" kern="0" spc="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b="1" kern="0" spc="-4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或“不出门</a:t>
            </a:r>
            <a:r>
              <a:rPr sz="1200" kern="0" spc="-37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4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”）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7025" algn="l" rtl="0" eaLnBrk="0">
              <a:lnSpc>
                <a:spcPct val="95000"/>
              </a:lnSpc>
              <a:spcBef>
                <a:spcPts val="646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如何选择 “提问顺序</a:t>
            </a:r>
            <a:r>
              <a:rPr sz="1200" kern="0" spc="-4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”？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6830" indent="286384" algn="l" rtl="0" eaLnBrk="0">
              <a:lnSpc>
                <a:spcPct val="133000"/>
              </a:lnSpc>
              <a:spcBef>
                <a:spcPts val="226"/>
              </a:spcBef>
              <a:tabLst/>
            </a:pPr>
            <a:r>
              <a:rPr sz="1200" b="1" kern="0" spc="-2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优先问“最能减少不确定性</a:t>
            </a:r>
            <a:r>
              <a:rPr sz="1200" kern="0" spc="-43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”的问题</a:t>
            </a:r>
            <a:r>
              <a:rPr sz="1200" b="1" kern="0" spc="-3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例如：“天气好不好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”比“今天星期几</a:t>
            </a:r>
            <a:r>
              <a:rPr sz="1200" kern="0" spc="-4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”更能决定是否出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门，因为天气对出门的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影响更大。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00330" indent="224154" algn="l" rtl="0" eaLnBrk="0">
              <a:lnSpc>
                <a:spcPct val="133000"/>
              </a:lnSpc>
              <a:spcBef>
                <a:spcPts val="226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计算机用“数学工具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”量化这种影响，</a:t>
            </a:r>
            <a:r>
              <a:rPr sz="1200" b="1" kern="0" spc="-1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比如“信息熵</a:t>
            </a:r>
            <a:r>
              <a:rPr sz="1200" kern="0" spc="-44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1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”（衡量数据的混乱程度）和“信息增益</a:t>
            </a:r>
            <a:r>
              <a:rPr sz="1200" kern="0" spc="-42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1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r>
              <a:rPr sz="1200" kern="0" spc="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b="1" kern="0" spc="-5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（提问后混乱程度减少了多少）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9565" algn="l" rtl="0" eaLnBrk="0">
              <a:lnSpc>
                <a:spcPct val="95000"/>
              </a:lnSpc>
              <a:spcBef>
                <a:spcPts val="656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决策树参数设置说明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35915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1.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criterion（分裂标准）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118" name="table 118"/>
          <p:cNvGraphicFramePr>
            <a:graphicFrameLocks noGrp="1"/>
          </p:cNvGraphicFramePr>
          <p:nvPr/>
        </p:nvGraphicFramePr>
        <p:xfrm>
          <a:off x="385571" y="1499869"/>
          <a:ext cx="6776084" cy="3380104"/>
        </p:xfrm>
        <a:graphic>
          <a:graphicData uri="http://schemas.openxmlformats.org/drawingml/2006/table">
            <a:tbl>
              <a:tblPr/>
              <a:tblGrid>
                <a:gridCol w="6776084"/>
              </a:tblGrid>
              <a:tr h="33769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1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375" algn="l" rtl="0" eaLnBrk="0">
                        <a:lnSpc>
                          <a:spcPct val="77000"/>
                        </a:lnSpc>
                        <a:spcBef>
                          <a:spcPts val="636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b="1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b="1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5564" algn="l" rtl="0" eaLnBrk="0">
                        <a:lnSpc>
                          <a:spcPct val="78000"/>
                        </a:lnSpc>
                        <a:spcBef>
                          <a:spcPts val="628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b="1" kern="0" spc="1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b="1" kern="0" spc="17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credit</a:t>
                      </a:r>
                      <a:r>
                        <a:rPr sz="1000" b="1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356"/>
                        </a:spcBef>
                        <a:tabLst/>
                      </a:pPr>
                      <a:r>
                        <a:rPr sz="1000" b="1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5915" algn="l" rtl="0" eaLnBrk="0">
                        <a:lnSpc>
                          <a:spcPct val="78000"/>
                        </a:lnSpc>
                        <a:spcBef>
                          <a:spcPts val="387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r>
                        <a:rPr sz="1000" b="1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</a:t>
                      </a:r>
                      <a:r>
                        <a:rPr sz="1000" b="1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1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credit</a:t>
                      </a:r>
                      <a:r>
                        <a:rPr sz="1000" b="1" kern="0" spc="1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b="1" kern="0" spc="1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r>
                        <a:rPr sz="1000" b="1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356"/>
                        </a:spcBef>
                        <a:tabLst/>
                      </a:pP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使用模型进行预测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7184" algn="l" rtl="0" eaLnBrk="0">
                        <a:lnSpc>
                          <a:spcPct val="78000"/>
                        </a:lnSpc>
                        <a:spcBef>
                          <a:spcPts val="387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b="1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4804" algn="l" rtl="0" eaLnBrk="0">
                        <a:lnSpc>
                          <a:spcPct val="77000"/>
                        </a:lnSpc>
                        <a:spcBef>
                          <a:spcPts val="632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b="1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6000"/>
                        </a:lnSpc>
                        <a:spcBef>
                          <a:spcPts val="304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b="1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u="sng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</a:t>
                      </a:r>
                      <a:r>
                        <a:rPr sz="1000" b="1" u="sng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b="1" kern="0" spc="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u="sng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mai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</a:t>
                      </a:r>
                      <a:r>
                        <a:rPr sz="1000" b="1" u="sng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b="1" kern="0" spc="-4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368"/>
                        </a:spcBef>
                        <a:tabLst/>
                      </a:pPr>
                      <a:r>
                        <a:rPr sz="1000" b="1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读取测试数据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7345" algn="l" rtl="0" eaLnBrk="0">
                        <a:lnSpc>
                          <a:spcPct val="83000"/>
                        </a:lnSpc>
                        <a:spcBef>
                          <a:spcPts val="327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read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b="1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customer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credit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b="1" kern="0" spc="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b="1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ct val="78000"/>
                        </a:lnSpc>
                        <a:spcBef>
                          <a:spcPts val="624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credit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ts val="1210"/>
                        </a:lnSpc>
                        <a:spcBef>
                          <a:spcPts val="506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预测结果</a:t>
                      </a:r>
                      <a:r>
                        <a:rPr sz="1000" b="1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ts val="1464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测试数据：</a:t>
                      </a:r>
                      <a:r>
                        <a:rPr sz="1000" kern="0" spc="-3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ct val="83000"/>
                        </a:lnSpc>
                        <a:spcBef>
                          <a:spcPts val="503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b="1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1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b="1" kern="0" spc="1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1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b="1" kern="0" spc="1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customer</a:t>
                      </a:r>
                      <a:r>
                        <a:rPr sz="1000" b="1" kern="0" spc="1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credit</a:t>
                      </a:r>
                      <a:r>
                        <a:rPr sz="1000" b="1" kern="0" spc="1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b="1" kern="0" spc="1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b="1" kern="0" spc="1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b="1" kern="0" spc="1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b="1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b="1" kern="0" spc="1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80185" algn="l" rtl="0" eaLnBrk="0">
                        <a:lnSpc>
                          <a:spcPct val="7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index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b="1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r>
                        <a:rPr sz="1000" b="1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0" name="textbox 120"/>
          <p:cNvSpPr/>
          <p:nvPr/>
        </p:nvSpPr>
        <p:spPr>
          <a:xfrm>
            <a:off x="457200" y="5534659"/>
            <a:ext cx="6645909" cy="892175"/>
          </a:xfrm>
          <a:prstGeom prst="rect">
            <a:avLst/>
          </a:prstGeom>
          <a:solidFill>
            <a:srgbClr val="E3F2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13690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天气晴吗？→ 是→去球场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3054" algn="l" rtl="0" eaLnBrk="0">
              <a:lnSpc>
                <a:spcPct val="83000"/>
              </a:lnSpc>
              <a:spcBef>
                <a:spcPts val="974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不是晴天→有没有带伞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？→有→去室内场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3054" algn="l" rtl="0" eaLnBrk="0">
              <a:lnSpc>
                <a:spcPts val="2339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没带伞→在家看比赛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122" name="table 122"/>
          <p:cNvGraphicFramePr>
            <a:graphicFrameLocks noGrp="1"/>
          </p:cNvGraphicFramePr>
          <p:nvPr/>
        </p:nvGraphicFramePr>
        <p:xfrm>
          <a:off x="385571" y="457200"/>
          <a:ext cx="6776084" cy="784859"/>
        </p:xfrm>
        <a:graphic>
          <a:graphicData uri="http://schemas.openxmlformats.org/drawingml/2006/table">
            <a:tbl>
              <a:tblPr/>
              <a:tblGrid>
                <a:gridCol w="6776084"/>
              </a:tblGrid>
              <a:tr h="7816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1154" algn="l" rtl="0" eaLnBrk="0">
                        <a:lnSpc>
                          <a:spcPts val="144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b="1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进行逻辑回归模型训练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7345" algn="l" rtl="0" eaLnBrk="0">
                        <a:lnSpc>
                          <a:spcPct val="78000"/>
                        </a:lnSpc>
                        <a:spcBef>
                          <a:spcPts val="843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logistic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regression</a:t>
                      </a:r>
                      <a:r>
                        <a:rPr sz="1000" b="1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(X,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b="1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184" algn="l" rtl="0" eaLnBrk="0">
                        <a:lnSpc>
                          <a:spcPts val="2028"/>
                        </a:lnSpc>
                        <a:spcBef>
                          <a:spcPts val="60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模型训练完成！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b="1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4" name="textbox 124"/>
          <p:cNvSpPr/>
          <p:nvPr/>
        </p:nvSpPr>
        <p:spPr>
          <a:xfrm>
            <a:off x="457073" y="4970843"/>
            <a:ext cx="3175000" cy="544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4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决策树算法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想象你要决定周末是否去打球，你会考虑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754633" y="1281963"/>
            <a:ext cx="1243964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模型预测实现代码</a:t>
            </a:r>
            <a:endParaRPr sz="12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 128"/>
          <p:cNvSpPr/>
          <p:nvPr/>
        </p:nvSpPr>
        <p:spPr>
          <a:xfrm>
            <a:off x="1943100" y="4508500"/>
            <a:ext cx="4572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0" name="rect 130"/>
          <p:cNvSpPr/>
          <p:nvPr/>
        </p:nvSpPr>
        <p:spPr>
          <a:xfrm>
            <a:off x="2400300" y="4508500"/>
            <a:ext cx="2667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rect 132"/>
          <p:cNvSpPr/>
          <p:nvPr/>
        </p:nvSpPr>
        <p:spPr>
          <a:xfrm>
            <a:off x="762000" y="4805679"/>
            <a:ext cx="14097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rect 134"/>
          <p:cNvSpPr/>
          <p:nvPr/>
        </p:nvSpPr>
        <p:spPr>
          <a:xfrm>
            <a:off x="2171700" y="4805679"/>
            <a:ext cx="4191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6" name="rect 136"/>
          <p:cNvSpPr/>
          <p:nvPr/>
        </p:nvSpPr>
        <p:spPr>
          <a:xfrm>
            <a:off x="2667000" y="4508500"/>
            <a:ext cx="15240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" name="rect 138"/>
          <p:cNvSpPr/>
          <p:nvPr/>
        </p:nvSpPr>
        <p:spPr>
          <a:xfrm>
            <a:off x="1524000" y="4508500"/>
            <a:ext cx="4191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0" name="rect 140"/>
          <p:cNvSpPr/>
          <p:nvPr/>
        </p:nvSpPr>
        <p:spPr>
          <a:xfrm>
            <a:off x="762000" y="4508500"/>
            <a:ext cx="7620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rect 142"/>
          <p:cNvSpPr/>
          <p:nvPr/>
        </p:nvSpPr>
        <p:spPr>
          <a:xfrm>
            <a:off x="2590800" y="4805679"/>
            <a:ext cx="16764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" name="rect 144"/>
          <p:cNvSpPr/>
          <p:nvPr/>
        </p:nvSpPr>
        <p:spPr>
          <a:xfrm>
            <a:off x="952500" y="5360670"/>
            <a:ext cx="8763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rect 146"/>
          <p:cNvSpPr/>
          <p:nvPr/>
        </p:nvSpPr>
        <p:spPr>
          <a:xfrm>
            <a:off x="762000" y="7064375"/>
            <a:ext cx="4572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1219200" y="7064375"/>
            <a:ext cx="1524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rect 150"/>
          <p:cNvSpPr/>
          <p:nvPr/>
        </p:nvSpPr>
        <p:spPr>
          <a:xfrm>
            <a:off x="1676400" y="7361554"/>
            <a:ext cx="15621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rect 152"/>
          <p:cNvSpPr/>
          <p:nvPr/>
        </p:nvSpPr>
        <p:spPr>
          <a:xfrm>
            <a:off x="3238500" y="7361554"/>
            <a:ext cx="3810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54" name="table 154"/>
          <p:cNvGraphicFramePr>
            <a:graphicFrameLocks noGrp="1"/>
          </p:cNvGraphicFramePr>
          <p:nvPr/>
        </p:nvGraphicFramePr>
        <p:xfrm>
          <a:off x="457200" y="3191256"/>
          <a:ext cx="6645909" cy="4928234"/>
        </p:xfrm>
        <a:graphic>
          <a:graphicData uri="http://schemas.openxmlformats.org/drawingml/2006/table">
            <a:tbl>
              <a:tblPr/>
              <a:tblGrid>
                <a:gridCol w="6645909"/>
              </a:tblGrid>
              <a:tr h="2565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2420" algn="l" rtl="0" eaLnBrk="0">
                        <a:lnSpc>
                          <a:spcPct val="9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2.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max_dep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th（树的最大深度）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064" indent="297179" algn="l" rtl="0" eaLnBrk="0">
                        <a:lnSpc>
                          <a:spcPct val="155000"/>
                        </a:lnSpc>
                        <a:spcBef>
                          <a:spcPts val="107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控制树的"层数"。就像你问问题，最多只能问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个问题就必须做出决定（比如：天气？→湿度？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→风速？→气压？→温度？→停止）。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3054" algn="l" rtl="0" eaLnBrk="0">
                        <a:lnSpc>
                          <a:spcPct val="95000"/>
                        </a:lnSpc>
                        <a:spcBef>
                          <a:spcPts val="816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如何设置：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4325" algn="l" rtl="0" eaLnBrk="0">
                        <a:lnSpc>
                          <a:spcPct val="83000"/>
                        </a:lnSpc>
                        <a:spcBef>
                          <a:spcPts val="818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小数据集（</a:t>
                      </a:r>
                      <a:r>
                        <a:rPr sz="1200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&lt;1000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条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）：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3-5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层足够（防止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过拟合）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2420" algn="l" rtl="0" eaLnBrk="0">
                        <a:lnSpc>
                          <a:spcPts val="2339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大数据集：可以尝试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10-15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层，但要用交叉验证检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查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3054" algn="l" rtl="0" eaLnBrk="0">
                        <a:lnSpc>
                          <a:spcPct val="95000"/>
                        </a:lnSpc>
                        <a:spcBef>
                          <a:spcPts val="987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关键技巧：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2420" algn="l" rtl="0" eaLnBrk="0">
                        <a:lnSpc>
                          <a:spcPct val="9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</a:t>
                      </a:r>
                      <a:r>
                        <a:rPr sz="1200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max_depth=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开始画树，观察是否需要更深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628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3.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min_samples_split（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节点最小分裂样本数）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5080" indent="307340" algn="l" rtl="0" eaLnBrk="0">
                        <a:lnSpc>
                          <a:spcPct val="154000"/>
                        </a:lnSpc>
                        <a:spcBef>
                          <a:spcPts val="127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一个节点至少要有多少个样本，才允许继续分裂。比如设为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10，意味着如果某个节点只有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样本，就不再问问题，直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接给出答案。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3054" algn="l" rtl="0" eaLnBrk="0">
                        <a:lnSpc>
                          <a:spcPct val="95000"/>
                        </a:lnSpc>
                        <a:spcBef>
                          <a:spcPts val="826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如何设置：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12420" algn="l" rtl="0" eaLnBrk="0">
                        <a:lnSpc>
                          <a:spcPct val="83000"/>
                        </a:lnSpc>
                        <a:spcBef>
                          <a:spcPts val="818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默认值=2（每个叶子最少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个样本才分裂）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20040" algn="l" rtl="0" eaLnBrk="0">
                        <a:lnSpc>
                          <a:spcPts val="2339"/>
                        </a:lnSpc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防止过拟合：如果数据噪声多，设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为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10-50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242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大数据集：可以按比例设，比如</a:t>
                      </a:r>
                      <a:r>
                        <a:rPr sz="1200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min_sa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mples_split=0.01（样本的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1%）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4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6" name="rect 156"/>
          <p:cNvSpPr/>
          <p:nvPr/>
        </p:nvSpPr>
        <p:spPr>
          <a:xfrm>
            <a:off x="3489959" y="506730"/>
            <a:ext cx="1828800" cy="197484"/>
          </a:xfrm>
          <a:prstGeom prst="rect">
            <a:avLst/>
          </a:prstGeom>
          <a:solidFill>
            <a:srgbClr val="FEE59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" name="rect 158"/>
          <p:cNvSpPr/>
          <p:nvPr/>
        </p:nvSpPr>
        <p:spPr>
          <a:xfrm>
            <a:off x="3352800" y="506730"/>
            <a:ext cx="137159" cy="197484"/>
          </a:xfrm>
          <a:prstGeom prst="rect">
            <a:avLst/>
          </a:prstGeom>
          <a:solidFill>
            <a:srgbClr val="FEE59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0" name="rect 160"/>
          <p:cNvSpPr/>
          <p:nvPr/>
        </p:nvSpPr>
        <p:spPr>
          <a:xfrm>
            <a:off x="5318759" y="506730"/>
            <a:ext cx="137795" cy="197484"/>
          </a:xfrm>
          <a:prstGeom prst="rect">
            <a:avLst/>
          </a:prstGeom>
          <a:solidFill>
            <a:srgbClr val="FEE59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2" name="rect 162"/>
          <p:cNvSpPr/>
          <p:nvPr/>
        </p:nvSpPr>
        <p:spPr>
          <a:xfrm>
            <a:off x="3200400" y="2507615"/>
            <a:ext cx="4572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" name="rect 164"/>
          <p:cNvSpPr/>
          <p:nvPr/>
        </p:nvSpPr>
        <p:spPr>
          <a:xfrm>
            <a:off x="5486400" y="2804794"/>
            <a:ext cx="533400" cy="197485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" name="rect 166"/>
          <p:cNvSpPr/>
          <p:nvPr/>
        </p:nvSpPr>
        <p:spPr>
          <a:xfrm>
            <a:off x="762000" y="1655444"/>
            <a:ext cx="460375" cy="197485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rect 168"/>
          <p:cNvSpPr/>
          <p:nvPr/>
        </p:nvSpPr>
        <p:spPr>
          <a:xfrm>
            <a:off x="5184775" y="1655444"/>
            <a:ext cx="1224279" cy="197485"/>
          </a:xfrm>
          <a:prstGeom prst="rect">
            <a:avLst/>
          </a:prstGeom>
          <a:solidFill>
            <a:srgbClr val="D4F4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" name="rect 170"/>
          <p:cNvSpPr/>
          <p:nvPr/>
        </p:nvSpPr>
        <p:spPr>
          <a:xfrm>
            <a:off x="762000" y="1952625"/>
            <a:ext cx="690880" cy="197484"/>
          </a:xfrm>
          <a:prstGeom prst="rect">
            <a:avLst/>
          </a:prstGeom>
          <a:solidFill>
            <a:srgbClr val="ECEC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2" name="textbox 172"/>
          <p:cNvSpPr/>
          <p:nvPr/>
        </p:nvSpPr>
        <p:spPr>
          <a:xfrm>
            <a:off x="449833" y="516902"/>
            <a:ext cx="6666865" cy="2493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它决定了决策树如何选择"最佳分裂点"</a:t>
            </a:r>
            <a:r>
              <a:rPr sz="1200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【数据具体哪一列当树的节点</a:t>
            </a:r>
            <a:r>
              <a:rPr sz="1200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】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。就像你考试时，老师要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5080" algn="l" rtl="0" eaLnBrk="0">
              <a:lnSpc>
                <a:spcPct val="168000"/>
              </a:lnSpc>
              <a:spcBef>
                <a:spcPts val="13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决定是按"分数≥60"还是"完成作业次数≥5"来划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分学生是否及格，criterion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就是帮树找到最好的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划分标准。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134" algn="l" rtl="0" eaLnBrk="0">
              <a:lnSpc>
                <a:spcPct val="95000"/>
              </a:lnSpc>
              <a:spcBef>
                <a:spcPts val="812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两种常见选项：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2579" algn="l" rtl="0" eaLnBrk="0">
              <a:lnSpc>
                <a:spcPct val="153000"/>
              </a:lnSpc>
              <a:spcBef>
                <a:spcPts val="85"/>
              </a:spcBef>
              <a:tabLst/>
            </a:pPr>
            <a:r>
              <a:rPr sz="1200" b="1" kern="0" spc="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"gini"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（基尼系数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）：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计算"分错类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"的概率，越小越好（更纯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1200" b="1" kern="0" spc="-1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基尼系数越小越好</a:t>
            </a:r>
            <a:r>
              <a:rPr sz="1200" kern="0" spc="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</a:t>
            </a:r>
            <a:r>
              <a:rPr sz="1200" b="1" kern="0" spc="-2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"entropy"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（信息增益</a:t>
            </a:r>
            <a:r>
              <a:rPr sz="1200" kern="0" spc="4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）：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计算分裂前后的信息混乱程度，减少得越多越好</a:t>
            </a:r>
            <a:r>
              <a:rPr sz="1200" b="1" kern="0" spc="-2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【头脑风暴】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0040" algn="l" rtl="0" eaLnBrk="0">
              <a:lnSpc>
                <a:spcPct val="95000"/>
              </a:lnSpc>
              <a:spcBef>
                <a:spcPts val="854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如何选择：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9404" algn="l" rtl="0" eaLnBrk="0">
              <a:lnSpc>
                <a:spcPct val="92000"/>
              </a:lnSpc>
              <a:spcBef>
                <a:spcPts val="817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大多数情况下两者效果相似，默认用"gin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i"（计算更快）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0040" algn="l" rtl="0" eaLnBrk="0">
              <a:lnSpc>
                <a:spcPct val="93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如果数据有大量类别不平衡（比如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99%是"是"，1%是"否"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可以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试试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entropy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174" name="rect 174"/>
          <p:cNvSpPr/>
          <p:nvPr/>
        </p:nvSpPr>
        <p:spPr>
          <a:xfrm>
            <a:off x="1524000" y="9472930"/>
            <a:ext cx="3429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rect 176"/>
          <p:cNvSpPr/>
          <p:nvPr/>
        </p:nvSpPr>
        <p:spPr>
          <a:xfrm>
            <a:off x="1866900" y="9472930"/>
            <a:ext cx="2286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8" name="rect 178"/>
          <p:cNvSpPr/>
          <p:nvPr/>
        </p:nvSpPr>
        <p:spPr>
          <a:xfrm>
            <a:off x="2095500" y="9472930"/>
            <a:ext cx="9525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0" name="rect 180"/>
          <p:cNvSpPr/>
          <p:nvPr/>
        </p:nvSpPr>
        <p:spPr>
          <a:xfrm>
            <a:off x="3048000" y="9472930"/>
            <a:ext cx="2667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2" name="rect 182"/>
          <p:cNvSpPr/>
          <p:nvPr/>
        </p:nvSpPr>
        <p:spPr>
          <a:xfrm>
            <a:off x="3314700" y="9472930"/>
            <a:ext cx="7620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rect 184"/>
          <p:cNvSpPr/>
          <p:nvPr/>
        </p:nvSpPr>
        <p:spPr>
          <a:xfrm>
            <a:off x="1524000" y="9770109"/>
            <a:ext cx="3429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6" name="rect 186"/>
          <p:cNvSpPr/>
          <p:nvPr/>
        </p:nvSpPr>
        <p:spPr>
          <a:xfrm>
            <a:off x="1866900" y="9770109"/>
            <a:ext cx="3048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" name="rect 188"/>
          <p:cNvSpPr/>
          <p:nvPr/>
        </p:nvSpPr>
        <p:spPr>
          <a:xfrm>
            <a:off x="2171700" y="9770109"/>
            <a:ext cx="16764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0" name="textbox 190"/>
          <p:cNvSpPr/>
          <p:nvPr/>
        </p:nvSpPr>
        <p:spPr>
          <a:xfrm>
            <a:off x="452881" y="8354834"/>
            <a:ext cx="6650355" cy="1625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4325" algn="l" rtl="0" eaLnBrk="0">
              <a:lnSpc>
                <a:spcPct val="92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4.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min_samples_leaf（叶子节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点最小样本数）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02259" algn="l" rtl="0" eaLnBrk="0">
              <a:lnSpc>
                <a:spcPct val="154000"/>
              </a:lnSpc>
              <a:spcBef>
                <a:spcPts val="115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每个"最终答案"至少需要多少个样本支持。比如设为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5，意味着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所有分类结果（带伞/不带伞）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必须有≥5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个样本支持，避免出现"只有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个人就下结论"的情况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ct val="95000"/>
              </a:lnSpc>
              <a:spcBef>
                <a:spcPts val="838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如何设置：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6865" algn="l" rtl="0" eaLnBrk="0">
              <a:lnSpc>
                <a:spcPct val="94000"/>
              </a:lnSpc>
              <a:spcBef>
                <a:spcPts val="821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分类问题：常用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1-5（小数据集用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3-5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防过拟合）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9565" algn="l" rtl="0" eaLnBrk="0">
              <a:lnSpc>
                <a:spcPct val="95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回归问题：设为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5-20（需要更稳定的平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均值）</a:t>
            </a:r>
            <a:endParaRPr sz="12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92"/>
          <p:cNvSpPr/>
          <p:nvPr/>
        </p:nvSpPr>
        <p:spPr>
          <a:xfrm>
            <a:off x="449833" y="5866142"/>
            <a:ext cx="6666230" cy="1995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1309" algn="l" rtl="0" eaLnBrk="0">
              <a:lnSpc>
                <a:spcPct val="83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实战案例：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Iris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数据集决策树分类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ts val="2028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任务目标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3334" indent="303529" algn="l" rtl="0" eaLnBrk="0">
              <a:lnSpc>
                <a:spcPct val="127000"/>
              </a:lnSpc>
              <a:spcBef>
                <a:spcPts val="518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输入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Iris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的花萼长度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(sepal length)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花萼宽度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(sepal width)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、花瓣长度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(petal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length)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和花瓣宽度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(petal width)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几个值，实现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对鸢尾花进行多分类。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770" algn="l" rtl="0" eaLnBrk="0">
              <a:lnSpc>
                <a:spcPct val="95000"/>
              </a:lnSpc>
              <a:spcBef>
                <a:spcPts val="707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数据集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02895" algn="l" rtl="0" eaLnBrk="0">
              <a:lnSpc>
                <a:spcPct val="133000"/>
              </a:lnSpc>
              <a:spcBef>
                <a:spcPts val="292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Iris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数据集是机器学习中最经典的数据集之一，包含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个样本，每个样本有</a:t>
            </a:r>
            <a:r>
              <a:rPr sz="1200" kern="0" spc="-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个特征：花萼长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度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(sepal length)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、花萼宽度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(sepal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width)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、花瓣长度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(petal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length)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、花瓣宽度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(petal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width)</a:t>
            </a:r>
            <a:r>
              <a:rPr sz="12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。这些样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本分为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类鸢尾花：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Setosa (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山鸢尾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Versicolor (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变色鸢尾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1200" kern="0" spc="-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Virginica (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维吉尼亚鸢尾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194" name="table 194"/>
          <p:cNvGraphicFramePr>
            <a:graphicFrameLocks noGrp="1"/>
          </p:cNvGraphicFramePr>
          <p:nvPr/>
        </p:nvGraphicFramePr>
        <p:xfrm>
          <a:off x="877442" y="7932039"/>
          <a:ext cx="5795010" cy="2080895"/>
        </p:xfrm>
        <a:graphic>
          <a:graphicData uri="http://schemas.openxmlformats.org/drawingml/2006/table">
            <a:tbl>
              <a:tblPr/>
              <a:tblGrid>
                <a:gridCol w="5795010"/>
              </a:tblGrid>
              <a:tr h="20745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6968" y="7941564"/>
            <a:ext cx="5775960" cy="2061972"/>
          </a:xfrm>
          <a:prstGeom prst="rect">
            <a:avLst/>
          </a:prstGeom>
        </p:spPr>
      </p:pic>
      <p:sp>
        <p:nvSpPr>
          <p:cNvPr id="198" name="rect 198"/>
          <p:cNvSpPr/>
          <p:nvPr/>
        </p:nvSpPr>
        <p:spPr>
          <a:xfrm>
            <a:off x="457200" y="4577714"/>
            <a:ext cx="6645909" cy="1248410"/>
          </a:xfrm>
          <a:prstGeom prst="rect">
            <a:avLst/>
          </a:prstGeom>
          <a:solidFill>
            <a:srgbClr val="DBE3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0" name="textbox 200"/>
          <p:cNvSpPr/>
          <p:nvPr/>
        </p:nvSpPr>
        <p:spPr>
          <a:xfrm>
            <a:off x="457200" y="1566544"/>
            <a:ext cx="6645909" cy="1247775"/>
          </a:xfrm>
          <a:prstGeom prst="rect">
            <a:avLst/>
          </a:prstGeom>
          <a:solidFill>
            <a:srgbClr val="DBE3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85" algn="l" rtl="0" eaLnBrk="0">
              <a:lnSpc>
                <a:spcPts val="1372"/>
              </a:lnSpc>
              <a:spcBef>
                <a:spcPts val="1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DecisionT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reeClassifier(</a:t>
            </a:r>
            <a:endParaRPr sz="1000" dirty="0">
              <a:latin typeface="Consolas"/>
              <a:ea typeface="Consolas"/>
              <a:cs typeface="Consolas"/>
            </a:endParaRPr>
          </a:p>
          <a:p>
            <a:pPr marL="276859" algn="l" rtl="0" eaLnBrk="0">
              <a:lnSpc>
                <a:spcPts val="1372"/>
              </a:lnSpc>
              <a:spcBef>
                <a:spcPts val="764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criterion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="</a:t>
            </a:r>
            <a:r>
              <a:rPr sz="1000" kern="0" spc="0" dirty="0">
                <a:solidFill>
                  <a:srgbClr val="578D31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gin</a:t>
            </a:r>
            <a:r>
              <a:rPr sz="1000" kern="0" spc="-450" dirty="0">
                <a:solidFill>
                  <a:srgbClr val="578D31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0" dirty="0">
                <a:solidFill>
                  <a:srgbClr val="578D31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",</a:t>
            </a:r>
            <a:r>
              <a:rPr sz="1000" kern="0" spc="5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默认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272415" algn="l" rtl="0" eaLnBrk="0">
              <a:lnSpc>
                <a:spcPts val="1372"/>
              </a:lnSpc>
              <a:spcBef>
                <a:spcPts val="488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depth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kern="0" spc="40" dirty="0">
                <a:solidFill>
                  <a:srgbClr val="E54C5E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浅树防过拟合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272415" algn="l" rtl="0" eaLnBrk="0">
              <a:lnSpc>
                <a:spcPts val="1372"/>
              </a:lnSpc>
              <a:spcBef>
                <a:spcPts val="500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samples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split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kern="0" spc="50" dirty="0">
                <a:solidFill>
                  <a:srgbClr val="E54C5E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00" kern="0" spc="51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节点至少</a:t>
            </a:r>
            <a:r>
              <a:rPr sz="1000" kern="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000" kern="0" spc="-2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样本才分裂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272415" algn="l" rtl="0" eaLnBrk="0">
              <a:lnSpc>
                <a:spcPts val="1884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samples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leaf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00" kern="0" spc="40" dirty="0">
                <a:solidFill>
                  <a:srgbClr val="E54C5E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00" kern="0" spc="180" dirty="0">
                <a:solidFill>
                  <a:srgbClr val="E54C5E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每个结论至少</a:t>
            </a:r>
            <a:r>
              <a:rPr sz="1000" kern="0" spc="-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3</a:t>
            </a:r>
            <a:r>
              <a:rPr sz="1000" kern="0" spc="-2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个样本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)</a:t>
            </a:r>
            <a:endParaRPr sz="1000" dirty="0">
              <a:latin typeface="Consolas"/>
              <a:ea typeface="Consolas"/>
              <a:cs typeface="Consolas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457200" y="3072130"/>
            <a:ext cx="6645909" cy="1247775"/>
          </a:xfrm>
          <a:prstGeom prst="rect">
            <a:avLst/>
          </a:prstGeom>
          <a:solidFill>
            <a:srgbClr val="DBE3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6985" algn="l" rtl="0" eaLnBrk="0">
              <a:lnSpc>
                <a:spcPts val="1372"/>
              </a:lnSpc>
              <a:spcBef>
                <a:spcPts val="2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DecisionT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reeClassifier(</a:t>
            </a:r>
            <a:endParaRPr sz="1000" dirty="0">
              <a:latin typeface="Consolas"/>
              <a:ea typeface="Consolas"/>
              <a:cs typeface="Consolas"/>
            </a:endParaRPr>
          </a:p>
          <a:p>
            <a:pPr marL="276859" algn="l" rtl="0" eaLnBrk="0">
              <a:lnSpc>
                <a:spcPts val="1372"/>
              </a:lnSpc>
              <a:spcBef>
                <a:spcPts val="764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criterion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="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entropy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",</a:t>
            </a:r>
            <a:r>
              <a:rPr sz="1000" kern="0" spc="5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噪声多时信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息增益更稳定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272415" algn="l" rtl="0" eaLnBrk="0">
              <a:lnSpc>
                <a:spcPts val="1372"/>
              </a:lnSpc>
              <a:spcBef>
                <a:spcPts val="488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depth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=10,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数据量大可以深一些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272415" algn="l" rtl="0" eaLnBrk="0">
              <a:lnSpc>
                <a:spcPts val="1372"/>
              </a:lnSpc>
              <a:spcBef>
                <a:spcPts val="512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samples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split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=100,</a:t>
            </a:r>
            <a:r>
              <a:rPr sz="1000" kern="0" spc="57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避免无意义分裂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72415" algn="l" rtl="0" eaLnBrk="0">
              <a:lnSpc>
                <a:spcPts val="1372"/>
              </a:lnSpc>
              <a:spcBef>
                <a:spcPts val="3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samples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leaf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=50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确保结论可靠性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)</a:t>
            </a:r>
            <a:endParaRPr sz="1000" dirty="0">
              <a:latin typeface="Consolas"/>
              <a:ea typeface="Consolas"/>
              <a:cs typeface="Consolas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451053" y="4360443"/>
            <a:ext cx="4099559" cy="1446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情况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3：类别极度不平衡（比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如欺诈检测，99%正常/1%欺诈）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1372"/>
              </a:lnSpc>
              <a:spcBef>
                <a:spcPts val="709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DecisionT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reeClassifier(</a:t>
            </a:r>
            <a:endParaRPr sz="1000" dirty="0">
              <a:latin typeface="Consolas"/>
              <a:ea typeface="Consolas"/>
              <a:cs typeface="Consolas"/>
            </a:endParaRPr>
          </a:p>
          <a:p>
            <a:pPr marL="282575" algn="l" rtl="0" eaLnBrk="0">
              <a:lnSpc>
                <a:spcPts val="1372"/>
              </a:lnSpc>
              <a:spcBef>
                <a:spcPts val="752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criterion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="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entropy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",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处理不平衡更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好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278129" algn="l" rtl="0" eaLnBrk="0">
              <a:lnSpc>
                <a:spcPts val="1372"/>
              </a:lnSpc>
              <a:spcBef>
                <a:spcPts val="500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max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depth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=5,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限制深度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278129" algn="l" rtl="0" eaLnBrk="0">
              <a:lnSpc>
                <a:spcPts val="1372"/>
              </a:lnSpc>
              <a:spcBef>
                <a:spcPts val="512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min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samples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leaf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=100,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确保欺诈样本足够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82575" algn="l" rtl="0" eaLnBrk="0">
              <a:lnSpc>
                <a:spcPts val="1372"/>
              </a:lnSpc>
              <a:spcBef>
                <a:spcPts val="3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_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weight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="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balanced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更重要！告诉树关注少数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类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onsolas"/>
                <a:ea typeface="Consolas"/>
                <a:cs typeface="Consolas"/>
              </a:rPr>
              <a:t>)</a:t>
            </a:r>
            <a:endParaRPr sz="1000" dirty="0">
              <a:latin typeface="Consolas"/>
              <a:ea typeface="Consolas"/>
              <a:cs typeface="Consolas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451053" y="1091463"/>
            <a:ext cx="3333115" cy="455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5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不同数据集的设置策略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情况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1：小型干净数据集（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比如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500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条天气数据）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451053" y="2854731"/>
            <a:ext cx="3409315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情况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2：大型噪声数据集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（比如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万条电商数据）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10" name="rect 210"/>
          <p:cNvSpPr/>
          <p:nvPr/>
        </p:nvSpPr>
        <p:spPr>
          <a:xfrm>
            <a:off x="2933700" y="506730"/>
            <a:ext cx="3810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rect 212"/>
          <p:cNvSpPr/>
          <p:nvPr/>
        </p:nvSpPr>
        <p:spPr>
          <a:xfrm>
            <a:off x="3314700" y="506730"/>
            <a:ext cx="12192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rect 214"/>
          <p:cNvSpPr/>
          <p:nvPr/>
        </p:nvSpPr>
        <p:spPr>
          <a:xfrm>
            <a:off x="1828800" y="506730"/>
            <a:ext cx="1104900" cy="197484"/>
          </a:xfrm>
          <a:prstGeom prst="rect">
            <a:avLst/>
          </a:prstGeom>
          <a:solidFill>
            <a:srgbClr val="ADB9C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textbox 216"/>
          <p:cNvSpPr/>
          <p:nvPr/>
        </p:nvSpPr>
        <p:spPr>
          <a:xfrm>
            <a:off x="1822653" y="516902"/>
            <a:ext cx="2724150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增大此值（比如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10-20）让少数类更可靠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755243" y="516902"/>
            <a:ext cx="104838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51"/>
              </a:lnSpc>
              <a:tabLst/>
            </a:pP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类别不平衡时：</a:t>
            </a:r>
            <a:endParaRPr sz="1100" dirty="0">
              <a:latin typeface="SimSun"/>
              <a:ea typeface="SimSun"/>
              <a:cs typeface="SimSun"/>
            </a:endParaRPr>
          </a:p>
        </p:txBody>
      </p:sp>
      <p:sp>
        <p:nvSpPr>
          <p:cNvPr id="220" name="path 220"/>
          <p:cNvSpPr/>
          <p:nvPr/>
        </p:nvSpPr>
        <p:spPr>
          <a:xfrm>
            <a:off x="457200" y="893064"/>
            <a:ext cx="6646164" cy="19811"/>
          </a:xfrm>
          <a:custGeom>
            <a:avLst/>
            <a:gdLst/>
            <a:ahLst/>
            <a:cxnLst/>
            <a:rect l="0" t="0" r="0" b="0"/>
            <a:pathLst>
              <a:path w="10466" h="31">
                <a:moveTo>
                  <a:pt x="0" y="0"/>
                </a:moveTo>
                <a:lnTo>
                  <a:pt x="0" y="31"/>
                </a:lnTo>
                <a:lnTo>
                  <a:pt x="10466" y="31"/>
                </a:lnTo>
                <a:lnTo>
                  <a:pt x="10466" y="0"/>
                </a:lnTo>
                <a:lnTo>
                  <a:pt x="0" y="0"/>
                </a:lnTo>
              </a:path>
            </a:pathLst>
          </a:custGeom>
          <a:solidFill>
            <a:srgbClr val="4040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table 222"/>
          <p:cNvGraphicFramePr>
            <a:graphicFrameLocks noGrp="1"/>
          </p:cNvGraphicFramePr>
          <p:nvPr/>
        </p:nvGraphicFramePr>
        <p:xfrm>
          <a:off x="385571" y="715009"/>
          <a:ext cx="6782434" cy="9490709"/>
        </p:xfrm>
        <a:graphic>
          <a:graphicData uri="http://schemas.openxmlformats.org/drawingml/2006/table">
            <a:tbl>
              <a:tblPr/>
              <a:tblGrid>
                <a:gridCol w="6782434"/>
              </a:tblGrid>
              <a:tr h="9487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导入必要的库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25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numpy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np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matplotlib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pyplot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269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sklearn.datasets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load_iris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80000"/>
                        </a:lnSpc>
                        <a:spcBef>
                          <a:spcPts val="262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sklearn.model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selection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train_test_split,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GridSearchCV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230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sklearn.tree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DecisionTreeClassifier,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lot_tree,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export_text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sklearn.metrics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accuracy_score,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classification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_report,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confusion_matrix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260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sklearn.preprocess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ing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StandardScaler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276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930" algn="l" rtl="0" eaLnBrk="0">
                        <a:lnSpc>
                          <a:spcPct val="76000"/>
                        </a:lnSpc>
                        <a:spcBef>
                          <a:spcPts val="28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.filterwarnings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'ignore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218"/>
                        </a:spcBef>
                        <a:tabLst/>
                      </a:pP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设置中文字体和图形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样式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07"/>
                        </a:lnSpc>
                        <a:spcBef>
                          <a:spcPts val="2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rcParams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font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sans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serif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SimHei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用来正常显示中文标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3000"/>
                        </a:lnSpc>
                        <a:spcBef>
                          <a:spcPts val="20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rcParams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axes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unicode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minus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r>
                        <a:rPr sz="1000" kern="0" spc="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用来正常显示负号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9535" algn="l" rtl="0" eaLnBrk="0">
                        <a:lnSpc>
                          <a:spcPct val="8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i="1" kern="0" spc="-3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85000"/>
                        </a:lnSpc>
                        <a:spcBef>
                          <a:spcPts val="19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加载数据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ts val="1555"/>
                        </a:lnSpc>
                        <a:spcBef>
                          <a:spcPts val="2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6200" algn="l" rtl="0" eaLnBrk="0">
                        <a:lnSpc>
                          <a:spcPts val="1374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1280" algn="l" rtl="0" eaLnBrk="0">
                        <a:lnSpc>
                          <a:spcPts val="1374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获取数据的标签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5089" algn="l" rtl="0" eaLnBrk="0">
                        <a:lnSpc>
                          <a:spcPts val="1663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获取数据特征的名称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0644" algn="l" rtl="0" eaLnBrk="0">
                        <a:lnSpc>
                          <a:spcPct val="88000"/>
                        </a:lnSpc>
                        <a:spcBef>
                          <a:spcPts val="19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获取数据特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征的名称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9535" algn="l" rtl="0" eaLnBrk="0">
                        <a:lnSpc>
                          <a:spcPct val="86000"/>
                        </a:lnSpc>
                        <a:spcBef>
                          <a:spcPts val="989"/>
                        </a:spcBef>
                        <a:tabLst/>
                      </a:pP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创建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DataFrame</a:t>
                      </a:r>
                      <a:r>
                        <a:rPr sz="1000" i="1" kern="0" spc="-2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以便更好地查看数据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9375" algn="l" rtl="0" eaLnBrk="0">
                        <a:lnSpc>
                          <a:spcPts val="1769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kern="0" spc="-3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DataFrame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columns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375" algn="l" rtl="0" eaLnBrk="0">
                        <a:lnSpc>
                          <a:spcPts val="1775"/>
                        </a:lnSpc>
                        <a:spcBef>
                          <a:spcPts val="60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'species_name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[target_names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[i]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95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数据集形状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shape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6000"/>
                        </a:lnSpc>
                        <a:spcBef>
                          <a:spcPts val="23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特征名称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380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目标类别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target_names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1000"/>
                        </a:lnSpc>
                        <a:spcBef>
                          <a:spcPts val="186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4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-27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前</a:t>
                      </a:r>
                      <a:r>
                        <a:rPr sz="1000" kern="0" spc="-1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-2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行数据</a:t>
                      </a:r>
                      <a:r>
                        <a:rPr sz="1000" kern="0" spc="-2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239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(df.head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1406"/>
                        </a:spcBef>
                        <a:tabLst/>
                      </a:pP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i="1" kern="0" spc="-3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数据探索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1000"/>
                        </a:lnSpc>
                        <a:spcBef>
                          <a:spcPts val="19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数据探索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368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-2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数据集基本信息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251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(df.desc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ribe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141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6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-27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各类别样本数量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77000"/>
                        </a:lnSpc>
                        <a:spcBef>
                          <a:spcPts val="26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(df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'spec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ies_name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].value_counts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86000"/>
                        </a:lnSpc>
                        <a:spcBef>
                          <a:spcPts val="141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可视化数据分布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5089" algn="l" rtl="0" eaLnBrk="0">
                        <a:lnSpc>
                          <a:spcPts val="1704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axes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subplots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figsize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95000"/>
                        </a:lnSpc>
                        <a:spcBef>
                          <a:spcPts val="18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suptitle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2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数据集特征分布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fontsize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16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特征定义</a:t>
                      </a:r>
                      <a:r>
                        <a:rPr sz="1000" kern="0" spc="-2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花萼长度</a:t>
                      </a:r>
                      <a:r>
                        <a:rPr sz="1000" kern="0" spc="-2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花萼宽度</a:t>
                      </a:r>
                      <a:r>
                        <a:rPr sz="1000" kern="0" spc="2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花瓣长</a:t>
                      </a: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度</a:t>
                      </a:r>
                      <a:r>
                        <a:rPr sz="1000" kern="0" spc="2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花瓣宽度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5089" algn="l" rtl="0" eaLnBrk="0">
                        <a:lnSpc>
                          <a:spcPts val="1907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features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600" kern="0" spc="-10" baseline="-522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epal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length</a:t>
                      </a:r>
                      <a:r>
                        <a:rPr sz="1000" kern="0" spc="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(cm)</a:t>
                      </a:r>
                      <a:r>
                        <a:rPr sz="1000" kern="0" spc="-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'sepal</a:t>
                      </a:r>
                      <a:r>
                        <a:rPr sz="1000" kern="0" spc="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width</a:t>
                      </a:r>
                      <a:r>
                        <a:rPr sz="1000" kern="0" spc="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(cm)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2550" algn="l" rtl="0" eaLnBrk="0">
                        <a:lnSpc>
                          <a:spcPts val="1775"/>
                        </a:lnSpc>
                        <a:spcBef>
                          <a:spcPts val="456"/>
                        </a:spcBef>
                        <a:tabLst/>
                      </a:pP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colors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'red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'blue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'green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66000"/>
                        </a:lnSpc>
                        <a:spcBef>
                          <a:spcPts val="100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5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enumerate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features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9250" algn="l" rtl="0" eaLnBrk="0">
                        <a:lnSpc>
                          <a:spcPts val="1671"/>
                        </a:lnSpc>
                        <a:spcBef>
                          <a:spcPts val="9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row,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//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%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790" algn="l" rtl="0" eaLnBrk="0">
                        <a:lnSpc>
                          <a:spcPts val="733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species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range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7855" algn="l" rtl="0" eaLnBrk="0">
                        <a:lnSpc>
                          <a:spcPts val="1738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species_data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[df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'species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species]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[feature]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34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axes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[row,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col]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.set_ylabel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频数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4" name="textbox 224"/>
          <p:cNvSpPr/>
          <p:nvPr/>
        </p:nvSpPr>
        <p:spPr>
          <a:xfrm>
            <a:off x="987190" y="9203816"/>
            <a:ext cx="353567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75"/>
              </a:lnSpc>
              <a:tabLst/>
            </a:pP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axes</a:t>
            </a:r>
            <a:r>
              <a:rPr sz="1000" kern="0" spc="-30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row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col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sz="1000" kern="0" spc="-36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hist</a:t>
            </a:r>
            <a:r>
              <a:rPr sz="1000" kern="0" spc="-29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species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data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kern="0" spc="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660099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alpha</a:t>
            </a:r>
            <a:r>
              <a:rPr sz="1000" kern="0" spc="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kern="0" spc="20" dirty="0">
                <a:solidFill>
                  <a:srgbClr val="1750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0.7</a:t>
            </a:r>
            <a:r>
              <a:rPr sz="1000" kern="0" spc="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,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2323476" y="9354705"/>
            <a:ext cx="225297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75"/>
              </a:lnSpc>
              <a:tabLst/>
            </a:pPr>
            <a:r>
              <a:rPr sz="1000" kern="0" spc="0" dirty="0">
                <a:solidFill>
                  <a:srgbClr val="660099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label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target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names</a:t>
            </a:r>
            <a:r>
              <a:rPr sz="1000" kern="0" spc="-2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species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],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720490" y="9505581"/>
            <a:ext cx="3375659" cy="519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601469" algn="l" rtl="0" eaLnBrk="0">
              <a:lnSpc>
                <a:spcPct val="108000"/>
              </a:lnSpc>
              <a:tabLst/>
            </a:pPr>
            <a:r>
              <a:rPr sz="1000" kern="0" spc="0" dirty="0">
                <a:solidFill>
                  <a:srgbClr val="660099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color</a:t>
            </a:r>
            <a:r>
              <a:rPr sz="1000" kern="0" spc="6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colors</a:t>
            </a:r>
            <a:r>
              <a:rPr sz="1000" kern="0" spc="-30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6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species</a:t>
            </a:r>
            <a:r>
              <a:rPr sz="1000" kern="0" spc="6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])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axes</a:t>
            </a:r>
            <a:r>
              <a:rPr sz="1000" kern="0" spc="-30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[row,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col]</a:t>
            </a:r>
            <a:r>
              <a:rPr sz="1000" kern="0" spc="-36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.set</a:t>
            </a:r>
            <a:r>
              <a:rPr sz="1000" kern="0" spc="-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_title</a:t>
            </a:r>
            <a:r>
              <a:rPr sz="1000" kern="0" spc="-2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f</a:t>
            </a:r>
            <a:r>
              <a:rPr sz="1000" kern="0" spc="-36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10" dirty="0">
                <a:solidFill>
                  <a:srgbClr val="0037A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{</a:t>
            </a:r>
            <a:r>
              <a:rPr sz="1000" kern="0" spc="-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feature</a:t>
            </a:r>
            <a:r>
              <a:rPr sz="1000" kern="0" spc="-10" dirty="0">
                <a:solidFill>
                  <a:srgbClr val="0037A6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}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分布</a:t>
            </a:r>
            <a:r>
              <a:rPr sz="1000" kern="0" spc="-240" dirty="0">
                <a:solidFill>
                  <a:srgbClr val="067D17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axes</a:t>
            </a:r>
            <a:r>
              <a:rPr sz="1000" kern="0" spc="-2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[row,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col]</a:t>
            </a:r>
            <a:r>
              <a:rPr sz="1000" kern="0" spc="-36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.set_xlabel</a:t>
            </a:r>
            <a:r>
              <a:rPr sz="1000" kern="0" spc="-29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(feature)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1326765" y="8196340"/>
            <a:ext cx="3142614" cy="135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2000"/>
              </a:lnSpc>
              <a:tabLst/>
            </a:pP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petal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length</a:t>
            </a:r>
            <a:r>
              <a:rPr sz="1000" kern="0" spc="35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(cm)</a:t>
            </a:r>
            <a:r>
              <a:rPr sz="1000" kern="0" spc="-34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kern="0" spc="27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'petal</a:t>
            </a:r>
            <a:r>
              <a:rPr sz="1000" kern="0" spc="8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wid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th</a:t>
            </a:r>
            <a:r>
              <a:rPr sz="1000" kern="0" spc="34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(cm)</a:t>
            </a:r>
            <a:r>
              <a:rPr sz="1000" kern="0" spc="-35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]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452728" y="4566285"/>
            <a:ext cx="1377314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75"/>
              </a:lnSpc>
              <a:tabLst/>
            </a:pPr>
            <a:r>
              <a:rPr sz="1000" kern="0" spc="-4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df</a:t>
            </a:r>
            <a:r>
              <a:rPr sz="1000" kern="0" spc="-2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4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00" kern="0" spc="-36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4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'species</a:t>
            </a:r>
            <a:r>
              <a:rPr sz="1000" kern="0" spc="-34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4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4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4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kern="0" spc="1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4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y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458825" y="497103"/>
            <a:ext cx="967105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Iris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数据探索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1883096" y="1628467"/>
            <a:ext cx="105410" cy="26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"/>
              </a:lnSpc>
              <a:tabLst/>
            </a:pPr>
            <a:r>
              <a:rPr sz="1000" kern="0" spc="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table 238"/>
          <p:cNvGraphicFramePr>
            <a:graphicFrameLocks noGrp="1"/>
          </p:cNvGraphicFramePr>
          <p:nvPr/>
        </p:nvGraphicFramePr>
        <p:xfrm>
          <a:off x="385571" y="6506844"/>
          <a:ext cx="6782434" cy="3611245"/>
        </p:xfrm>
        <a:graphic>
          <a:graphicData uri="http://schemas.openxmlformats.org/drawingml/2006/table">
            <a:tbl>
              <a:tblPr/>
              <a:tblGrid>
                <a:gridCol w="6782434"/>
              </a:tblGrid>
              <a:tr h="3608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导入必要的库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52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numpy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np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matplotlib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pyplot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64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sklearn.datasets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load_iris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80000"/>
                        </a:lnSpc>
                        <a:spcBef>
                          <a:spcPts val="634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sklearn.model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selection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train_test_split,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GridSearchCV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602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sklearn.tree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DecisionTreeClassifier,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lot_tree,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export_text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636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sklearn.metrics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accuracy_score,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classification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_report,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confusion_matrix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644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sklearn.preprocess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ing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StandardScaler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930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.filterwarnings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'ignore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94"/>
                        </a:spcBef>
                        <a:tabLst/>
                      </a:pP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设置中文字体和图形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样式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59"/>
                        </a:lnSpc>
                        <a:spcBef>
                          <a:spcPts val="22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rcParams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font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sans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serif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SimHei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用来正常显示中文标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439"/>
                        </a:lnSpc>
                        <a:spcBef>
                          <a:spcPts val="10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rcParams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axes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unicode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minus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r>
                        <a:rPr sz="1000" kern="0" spc="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用来正常显示负号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953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i="1" kern="0" spc="-3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0000"/>
                        </a:lnSpc>
                        <a:spcBef>
                          <a:spcPts val="38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加载数据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ts val="1939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6200" algn="l" rtl="0" eaLnBrk="0">
                        <a:lnSpc>
                          <a:spcPts val="1661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0" name="table 240"/>
          <p:cNvGraphicFramePr>
            <a:graphicFrameLocks noGrp="1"/>
          </p:cNvGraphicFramePr>
          <p:nvPr/>
        </p:nvGraphicFramePr>
        <p:xfrm>
          <a:off x="385571" y="457200"/>
          <a:ext cx="6782434" cy="2522219"/>
        </p:xfrm>
        <a:graphic>
          <a:graphicData uri="http://schemas.openxmlformats.org/drawingml/2006/table">
            <a:tbl>
              <a:tblPr/>
              <a:tblGrid>
                <a:gridCol w="6782434"/>
              </a:tblGrid>
              <a:tr h="25190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345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axes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[row,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col]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.legen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77000"/>
                        </a:lnSpc>
                        <a:spcBef>
                          <a:spcPts val="145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tight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layout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75000"/>
                        </a:lnSpc>
                        <a:spcBef>
                          <a:spcPts val="28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plt.show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86000"/>
                        </a:lnSpc>
                        <a:spcBef>
                          <a:spcPts val="1417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特征关系散点图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673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figure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figsize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ts val="778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species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enumerate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693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plt.scatter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(df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[df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'species_name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species]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'petal</a:t>
                      </a:r>
                      <a:r>
                        <a:rPr sz="1000" kern="0" spc="1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length</a:t>
                      </a:r>
                      <a:r>
                        <a:rPr sz="1000" kern="0" spc="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(cm)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92000"/>
                        </a:lnSpc>
                        <a:spcBef>
                          <a:spcPts val="30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title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花瓣长度与宽度的关系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22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plt.legend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plt.show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2" name="table 242"/>
          <p:cNvGraphicFramePr>
            <a:graphicFrameLocks noGrp="1"/>
          </p:cNvGraphicFramePr>
          <p:nvPr/>
        </p:nvGraphicFramePr>
        <p:xfrm>
          <a:off x="699134" y="2988182"/>
          <a:ext cx="6155690" cy="1962150"/>
        </p:xfrm>
        <a:graphic>
          <a:graphicData uri="http://schemas.openxmlformats.org/drawingml/2006/table">
            <a:tbl>
              <a:tblPr/>
              <a:tblGrid>
                <a:gridCol w="3039110"/>
                <a:gridCol w="3116579"/>
              </a:tblGrid>
              <a:tr h="1962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4" name="textbox 244"/>
          <p:cNvSpPr/>
          <p:nvPr/>
        </p:nvSpPr>
        <p:spPr>
          <a:xfrm>
            <a:off x="450443" y="5002034"/>
            <a:ext cx="4637404" cy="1486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95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Iris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数据探索的结论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770" algn="l" rtl="0" eaLnBrk="0">
              <a:lnSpc>
                <a:spcPct val="94000"/>
              </a:lnSpc>
              <a:spcBef>
                <a:spcPts val="67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分类边界清晰度，花瓣特征提供了几乎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完美的线性可分性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9050" algn="l" rtl="0" eaLnBrk="0">
              <a:lnSpc>
                <a:spcPts val="1495"/>
              </a:lnSpc>
              <a:spcBef>
                <a:spcPts val="609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Setosa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与其他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两类完全分离，没有重叠区域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9050" algn="l" rtl="0" eaLnBrk="0">
              <a:lnSpc>
                <a:spcPct val="95000"/>
              </a:lnSpc>
              <a:spcBef>
                <a:spcPts val="529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Versicolor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Virginica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之间有少量重叠，但大部分样本可清晰区分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9050" algn="l" rtl="0" eaLnBrk="0">
              <a:lnSpc>
                <a:spcPts val="1495"/>
              </a:lnSpc>
              <a:spcBef>
                <a:spcPts val="663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仅凭花瓣长度和宽度两个特征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就能达到很高的分类准确率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基于决策树算法的</a:t>
            </a:r>
            <a:r>
              <a:rPr sz="1200" kern="0" spc="-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Iris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数据的多分类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22191" y="2997708"/>
            <a:ext cx="3023615" cy="1943099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12667" y="2988182"/>
            <a:ext cx="3042666" cy="1962150"/>
          </a:xfrm>
          <a:prstGeom prst="rect">
            <a:avLst/>
          </a:prstGeom>
        </p:spPr>
      </p:pic>
      <p:pic>
        <p:nvPicPr>
          <p:cNvPr id="250" name="picture 2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8659" y="2997708"/>
            <a:ext cx="3023616" cy="1943099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1519528" y="1809381"/>
            <a:ext cx="4337050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775"/>
              </a:lnSpc>
              <a:tabLst/>
            </a:pPr>
            <a:r>
              <a:rPr sz="1000" kern="0" spc="-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df</a:t>
            </a:r>
            <a:r>
              <a:rPr sz="1000" kern="0" spc="-30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[df</a:t>
            </a:r>
            <a:r>
              <a:rPr sz="1000" kern="0" spc="-3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00" kern="0" spc="-35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'species_name</a:t>
            </a:r>
            <a:r>
              <a:rPr sz="1000" kern="0" spc="-35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]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==</a:t>
            </a:r>
            <a:r>
              <a:rPr sz="1000" kern="0" spc="13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species]</a:t>
            </a:r>
            <a:r>
              <a:rPr sz="1000" kern="0" spc="-29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[</a:t>
            </a:r>
            <a:r>
              <a:rPr sz="1000" kern="0" spc="-35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'petal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width</a:t>
            </a:r>
            <a:r>
              <a:rPr sz="1000" kern="0" spc="34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(cm)</a:t>
            </a:r>
            <a:r>
              <a:rPr sz="1000" kern="0" spc="-34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],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1523377" y="1960245"/>
            <a:ext cx="201358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75"/>
              </a:lnSpc>
              <a:tabLst/>
            </a:pPr>
            <a:r>
              <a:rPr sz="1000" kern="0" spc="0" dirty="0">
                <a:solidFill>
                  <a:srgbClr val="660099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label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species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0" dirty="0">
                <a:solidFill>
                  <a:srgbClr val="660099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alpha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kern="0" spc="80" dirty="0">
                <a:solidFill>
                  <a:srgbClr val="1750EB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0.7</a:t>
            </a:r>
            <a:r>
              <a:rPr sz="1000" kern="0" spc="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)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447419" y="2155360"/>
            <a:ext cx="2062479" cy="346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5000"/>
              </a:lnSpc>
              <a:tabLst/>
            </a:pP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plt.xlabel</a:t>
            </a:r>
            <a:r>
              <a:rPr sz="1000" kern="0" spc="-2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kern="0" spc="-35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花瓣长度</a:t>
            </a:r>
            <a:r>
              <a:rPr sz="1000" kern="0" spc="340" dirty="0">
                <a:solidFill>
                  <a:srgbClr val="067D17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(cm)</a:t>
            </a:r>
            <a:r>
              <a:rPr sz="1000" kern="0" spc="-35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000" kern="0" spc="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plt.ylabel</a:t>
            </a:r>
            <a:r>
              <a:rPr sz="1000" kern="0" spc="-28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000" kern="0" spc="-35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花瓣宽度</a:t>
            </a:r>
            <a:r>
              <a:rPr sz="1000" kern="0" spc="340" dirty="0">
                <a:solidFill>
                  <a:srgbClr val="067D17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(cm)</a:t>
            </a:r>
            <a:r>
              <a:rPr sz="1000" kern="0" spc="-35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kern="0" spc="-2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sz="1000" kern="0" spc="-2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)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1883096" y="7534852"/>
            <a:ext cx="10541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tabLst>
                <a:tab pos="92075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table 260"/>
          <p:cNvGraphicFramePr>
            <a:graphicFrameLocks noGrp="1"/>
          </p:cNvGraphicFramePr>
          <p:nvPr/>
        </p:nvGraphicFramePr>
        <p:xfrm>
          <a:off x="385571" y="457200"/>
          <a:ext cx="6782434" cy="9725025"/>
        </p:xfrm>
        <a:graphic>
          <a:graphicData uri="http://schemas.openxmlformats.org/drawingml/2006/table">
            <a:tbl>
              <a:tblPr/>
              <a:tblGrid>
                <a:gridCol w="6782434"/>
              </a:tblGrid>
              <a:tr h="9721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ts val="166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获取数据的标签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5089" algn="l" rtl="0" eaLnBrk="0">
                        <a:lnSpc>
                          <a:spcPts val="1705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获取数据特征的名称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0644" algn="l" rtl="0" eaLnBrk="0">
                        <a:lnSpc>
                          <a:spcPts val="1395"/>
                        </a:lnSpc>
                        <a:spcBef>
                          <a:spcPts val="10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iris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获取数据特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征的名称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9535" algn="l" rtl="0" eaLnBrk="0">
                        <a:lnSpc>
                          <a:spcPct val="9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i="1" kern="0" spc="-3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数据预处理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38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7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2.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数据集划分与标准化处理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..."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10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分割数据集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10489" algn="l" rtl="0" eaLnBrk="0">
                        <a:lnSpc>
                          <a:spcPct val="77000"/>
                        </a:lnSpc>
                        <a:spcBef>
                          <a:spcPts val="507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47954" algn="l" rtl="0" eaLnBrk="0">
                        <a:lnSpc>
                          <a:spcPts val="1667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split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2548254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7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size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0.2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2549525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random</a:t>
                      </a:r>
                      <a:r>
                        <a:rPr sz="1000" kern="0" spc="7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state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42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标准化特征（决策树通常不需要，但为了演示标准化过程）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4455" algn="l" rtl="0" eaLnBrk="0">
                        <a:lnSpc>
                          <a:spcPts val="1667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scaler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StandardScaler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6200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scaled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scaler</a:t>
                      </a:r>
                      <a:r>
                        <a:rPr sz="1000" kern="0" spc="-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transform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6200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scaled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scaler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transform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96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训练集大小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shape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560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测试集大小</a:t>
                      </a:r>
                      <a:r>
                        <a:rPr sz="1000" kern="0" spc="-1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shape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312"/>
                        </a:spcBef>
                        <a:tabLst/>
                      </a:pP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i="1" kern="0" spc="-3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训练决策树模型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38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3.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训练决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策树模型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..."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10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创建决策树分类器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9375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classifier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DecisionTreeClassifier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random</a:t>
                      </a:r>
                      <a:r>
                        <a:rPr sz="1000" kern="0" spc="12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state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42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定义参数网格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param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68934" algn="l" rtl="0" eaLnBrk="0">
                        <a:lnSpc>
                          <a:spcPct val="76000"/>
                        </a:lnSpc>
                        <a:spcBef>
                          <a:spcPts val="19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'max_depth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7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None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68934" algn="l" rtl="0" eaLnBrk="0">
                        <a:lnSpc>
                          <a:spcPct val="80000"/>
                        </a:lnSpc>
                        <a:spcBef>
                          <a:spcPts val="6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'min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samples_split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68934" algn="l" rtl="0" eaLnBrk="0">
                        <a:lnSpc>
                          <a:spcPct val="77000"/>
                        </a:lnSpc>
                        <a:spcBef>
                          <a:spcPts val="602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'min_samples_leaf</a:t>
                      </a:r>
                      <a:r>
                        <a:rPr sz="1000" kern="0" spc="-2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68934" algn="l" rtl="0" eaLnBrk="0">
                        <a:lnSpc>
                          <a:spcPct val="76000"/>
                        </a:lnSpc>
                        <a:spcBef>
                          <a:spcPts val="644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'criterion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'gini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'entropy</a:t>
                      </a:r>
                      <a:r>
                        <a:rPr sz="1000" kern="0" spc="-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97155" algn="l" rtl="0" eaLnBrk="0">
                        <a:lnSpc>
                          <a:spcPct val="75000"/>
                        </a:lnSpc>
                        <a:spcBef>
                          <a:spcPts val="658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8000"/>
                        </a:lnSpc>
                        <a:spcBef>
                          <a:spcPts val="300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使用网格搜索寻找最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佳参数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38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正在进行参数调优</a:t>
                      </a:r>
                      <a:r>
                        <a:rPr sz="1000" kern="0" spc="-2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375" algn="l" rtl="0" eaLnBrk="0">
                        <a:lnSpc>
                          <a:spcPts val="1775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GridSearchCV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ct val="69000"/>
                        </a:lnSpc>
                        <a:spcBef>
                          <a:spcPts val="174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1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classifier,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7000"/>
                        </a:lnSpc>
                        <a:spcBef>
                          <a:spcPts val="736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param_grid,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9250" algn="l" rtl="0" eaLnBrk="0">
                        <a:lnSpc>
                          <a:spcPts val="1667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cv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5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scoring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4804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=-</a:t>
                      </a:r>
                      <a:r>
                        <a:rPr sz="1000" kern="0" spc="3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375" algn="l" rtl="0" eaLnBrk="0">
                        <a:lnSpc>
                          <a:spcPct val="77000"/>
                        </a:lnSpc>
                        <a:spcBef>
                          <a:spcPts val="17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8000"/>
                        </a:lnSpc>
                        <a:spcBef>
                          <a:spcPts val="306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获取最佳模型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75"/>
                        </a:lnSpc>
                        <a:spcBef>
                          <a:spcPts val="11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estimator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96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最佳参数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params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5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6000"/>
                        </a:lnSpc>
                        <a:spcBef>
                          <a:spcPts val="40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最佳交叉验证分数</a:t>
                      </a:r>
                      <a:r>
                        <a:rPr sz="1000" kern="0" spc="-2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search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.4f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8000"/>
                        </a:lnSpc>
                        <a:spcBef>
                          <a:spcPts val="302"/>
                        </a:spcBef>
                        <a:tabLst/>
                      </a:pP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</a:t>
                      </a:r>
                      <a:r>
                        <a:rPr sz="1000" i="1" kern="0" spc="-3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模型评估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模型评估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2" name="textbox 262"/>
          <p:cNvSpPr/>
          <p:nvPr/>
        </p:nvSpPr>
        <p:spPr>
          <a:xfrm>
            <a:off x="871210" y="7230053"/>
            <a:ext cx="10541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tabLst>
                <a:tab pos="92075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1031220" y="5767651"/>
            <a:ext cx="105410" cy="26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"/>
              </a:lnSpc>
              <a:tabLst/>
            </a:pPr>
            <a:r>
              <a:rPr sz="1000" kern="0" spc="10" dirty="0">
                <a:solidFill>
                  <a:srgbClr val="067D17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table 266"/>
          <p:cNvGraphicFramePr>
            <a:graphicFrameLocks noGrp="1"/>
          </p:cNvGraphicFramePr>
          <p:nvPr/>
        </p:nvGraphicFramePr>
        <p:xfrm>
          <a:off x="385571" y="457200"/>
          <a:ext cx="6782434" cy="9740265"/>
        </p:xfrm>
        <a:graphic>
          <a:graphicData uri="http://schemas.openxmlformats.org/drawingml/2006/table">
            <a:tbl>
              <a:tblPr/>
              <a:tblGrid>
                <a:gridCol w="6782434"/>
              </a:tblGrid>
              <a:tr h="97370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在训练集和测试集上进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行预测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1280" algn="l" rtl="0" eaLnBrk="0">
                        <a:lnSpc>
                          <a:spcPts val="1667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1280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计算准确率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0644" algn="l" rtl="0" eaLnBrk="0">
                        <a:lnSpc>
                          <a:spcPts val="1667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2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0644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96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训练集准确率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-36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.4f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560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测试集准确率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.4f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8000"/>
                        </a:lnSpc>
                        <a:spcBef>
                          <a:spcPts val="304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分类报告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39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7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-28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分类报告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775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classification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report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9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2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i="1" kern="0" spc="-3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可视化决策树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1000"/>
                        </a:lnSpc>
                        <a:spcBef>
                          <a:spcPts val="37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可视化决策树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978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plt.figure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figsize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1000"/>
                        </a:lnSpc>
                        <a:spcBef>
                          <a:spcPts val="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plot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tree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51205" algn="l" rtl="0" eaLnBrk="0">
                        <a:lnSpc>
                          <a:spcPts val="1667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feature_names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=feature_names,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8030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class_names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=target_names,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51205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filled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True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8030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rounded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True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51205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fontsize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12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1000"/>
                        </a:lnSpc>
                        <a:spcBef>
                          <a:spcPts val="50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plt.title</a:t>
                      </a:r>
                      <a:r>
                        <a:rPr sz="1000" kern="0" spc="-2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决策树结构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464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plt.show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8000"/>
                        </a:lnSpc>
                        <a:spcBef>
                          <a:spcPts val="302"/>
                        </a:spcBef>
                        <a:tabLst/>
                      </a:pP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打印文本形式的决策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树规则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38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4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-25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决策树规则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0644" algn="l" rtl="0" eaLnBrk="0">
                        <a:lnSpc>
                          <a:spcPts val="1775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tree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rules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export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1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1000"/>
                        </a:lnSpc>
                        <a:spcBef>
                          <a:spcPts val="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tree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rules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2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6.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特征重要性分析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38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6.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特征重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要性分析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..."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ts val="1667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importance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importances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ts val="1711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importance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DataFrame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({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68934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</a:t>
                      </a:r>
                      <a:r>
                        <a:rPr sz="1000" kern="0" spc="-2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feature_names,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68934" algn="l" rtl="0" eaLnBrk="0">
                        <a:lnSpc>
                          <a:spcPct val="96000"/>
                        </a:lnSpc>
                        <a:spcBef>
                          <a:spcPts val="408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重要性</a:t>
                      </a:r>
                      <a:r>
                        <a:rPr sz="1000" kern="0" spc="-2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importance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97155" algn="l" rtl="0" eaLnBrk="0">
                        <a:lnSpc>
                          <a:spcPts val="1775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})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.sort_values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重要性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ascendin</a:t>
                      </a:r>
                      <a:r>
                        <a:rPr sz="1000" kern="0" spc="-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30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特征重要性排序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77000"/>
                        </a:lnSpc>
                        <a:spcBef>
                          <a:spcPts val="54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feature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importance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3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7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使用模型进行预测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38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7.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模型进行预测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10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创建一些示例数据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9535" algn="l" rtl="0" eaLnBrk="0">
                        <a:lnSpc>
                          <a:spcPct val="95000"/>
                        </a:lnSpc>
                        <a:spcBef>
                          <a:spcPts val="382"/>
                        </a:spcBef>
                        <a:tabLst/>
                      </a:pP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特征定义</a:t>
                      </a:r>
                      <a:r>
                        <a:rPr sz="1000" kern="0" spc="-2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花萼长度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sepal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length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花萼宽度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sepal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width</a:t>
                      </a:r>
                      <a:r>
                        <a:rPr sz="1000" i="1" kern="0" spc="4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花瓣长度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petal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length</a:t>
                      </a:r>
                      <a:r>
                        <a:rPr sz="1000" i="1" kern="0" spc="4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花瓣宽度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petal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6360" algn="l" rtl="0" eaLnBrk="0">
                        <a:lnSpc>
                          <a:spcPct val="76000"/>
                        </a:lnSpc>
                        <a:spcBef>
                          <a:spcPts val="545"/>
                        </a:spcBef>
                        <a:tabLst/>
                      </a:pP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width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375" algn="l" rtl="0" eaLnBrk="0">
                        <a:lnSpc>
                          <a:spcPts val="1721"/>
                        </a:lnSpc>
                        <a:spcBef>
                          <a:spcPts val="25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example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flowers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" name="table 268"/>
          <p:cNvGraphicFramePr>
            <a:graphicFrameLocks noGrp="1"/>
          </p:cNvGraphicFramePr>
          <p:nvPr/>
        </p:nvGraphicFramePr>
        <p:xfrm>
          <a:off x="385571" y="457200"/>
          <a:ext cx="6782434" cy="8155305"/>
        </p:xfrm>
        <a:graphic>
          <a:graphicData uri="http://schemas.openxmlformats.org/drawingml/2006/table">
            <a:tbl>
              <a:tblPr/>
              <a:tblGrid>
                <a:gridCol w="6782434"/>
              </a:tblGrid>
              <a:tr h="81521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28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5.1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3.5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1.4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0.2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应该预测为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setosa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75284" algn="l" rtl="0" eaLnBrk="0">
                        <a:lnSpc>
                          <a:spcPct val="87000"/>
                        </a:lnSpc>
                        <a:spcBef>
                          <a:spcPts val="423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6.0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2.7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5.1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1.6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应该预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测为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versi</a:t>
                      </a:r>
                      <a:r>
                        <a:rPr sz="1000" i="1" kern="0" spc="-4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color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75284" algn="l" rtl="0" eaLnBrk="0">
                        <a:lnSpc>
                          <a:spcPts val="1603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7.2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3.0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5.8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2.1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应该预测为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virginica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91439" algn="l" rtl="0" eaLnBrk="0">
                        <a:lnSpc>
                          <a:spcPct val="75000"/>
                        </a:lnSpc>
                        <a:spcBef>
                          <a:spcPts val="61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flower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enumerate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example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flowers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667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flower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])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probability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flower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])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3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995" algn="l" rtl="0" eaLnBrk="0">
                        <a:lnSpc>
                          <a:spcPct val="95000"/>
                        </a:lnSpc>
                        <a:spcBef>
                          <a:spcPts val="30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-29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示例花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+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flower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6000"/>
                        </a:lnSpc>
                        <a:spcBef>
                          <a:spcPts val="4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预测类别</a:t>
                      </a:r>
                      <a:r>
                        <a:rPr sz="1000" kern="0" spc="-2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names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70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类别概率</a:t>
                      </a:r>
                      <a:r>
                        <a:rPr sz="1000" kern="0" spc="-2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790" algn="l" rtl="0" eaLnBrk="0">
                        <a:lnSpc>
                          <a:spcPct val="76000"/>
                        </a:lnSpc>
                        <a:spcBef>
                          <a:spcPts val="60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enumerate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probability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7694" algn="l" rtl="0" eaLnBrk="0">
                        <a:lnSpc>
                          <a:spcPct val="77000"/>
                        </a:lnSpc>
                        <a:spcBef>
                          <a:spcPts val="641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target_names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[j]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-35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-36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.4f</a:t>
                      </a:r>
                      <a:r>
                        <a:rPr sz="1000" kern="0" spc="-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</a:t>
                      </a:r>
                      <a:r>
                        <a:rPr sz="1000" i="1" kern="0" spc="-3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模型复杂度与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性能关系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ct val="88000"/>
                        </a:lnSpc>
                        <a:spcBef>
                          <a:spcPts val="37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9.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分析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不同树深度对性能的影响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..."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2389" algn="l" rtl="0" eaLnBrk="0">
                        <a:lnSpc>
                          <a:spcPts val="1908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max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depths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range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11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0644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scores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0644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depth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max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depths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ct val="120000"/>
                        </a:lnSpc>
                        <a:spcBef>
                          <a:spcPts val="24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temp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DecisionTreeClassifier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max</a:t>
                      </a:r>
                      <a:r>
                        <a:rPr sz="1000" kern="0" spc="1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depth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depth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random</a:t>
                      </a:r>
                      <a:r>
                        <a:rPr sz="1000" kern="0" spc="1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state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42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            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temp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fit</a:t>
                      </a:r>
                      <a:r>
                        <a:rPr sz="1000" kern="0" spc="-2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ct val="80000"/>
                        </a:lnSpc>
                        <a:spcBef>
                          <a:spcPts val="6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scores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append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temp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ct val="77000"/>
                        </a:lnSpc>
                        <a:spcBef>
                          <a:spcPts val="60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scores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append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temp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ts val="1715"/>
                        </a:lnSpc>
                        <a:spcBef>
                          <a:spcPts val="30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plt.figure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figsize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731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plot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max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depths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scores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'o-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训练集准确率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415"/>
                        </a:lnSpc>
                        <a:spcBef>
                          <a:spcPts val="10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plot</a:t>
                      </a:r>
                      <a:r>
                        <a:rPr sz="1000" kern="0" spc="-2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max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depths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'o-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测试集准确率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plt.xlabel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决策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树深度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546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plt.ylabel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准确率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1000"/>
                        </a:lnSpc>
                        <a:spcBef>
                          <a:spcPts val="46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title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决策树深度与性能关系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464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plt.legend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76000"/>
                        </a:lnSpc>
                        <a:spcBef>
                          <a:spcPts val="70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True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75000"/>
                        </a:lnSpc>
                        <a:spcBef>
                          <a:spcPts val="660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plt.show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ts val="1775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3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-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+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"="</a:t>
                      </a:r>
                      <a:r>
                        <a:rPr sz="1000" kern="0" spc="1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*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60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5000"/>
                        </a:lnSpc>
                        <a:spcBef>
                          <a:spcPts val="5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模型训练和评估完成</a:t>
                      </a:r>
                      <a:r>
                        <a:rPr sz="1000" kern="0" spc="-2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!"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ct val="94000"/>
                        </a:lnSpc>
                        <a:spcBef>
                          <a:spcPts val="41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最终测试集准确率</a:t>
                      </a:r>
                      <a:r>
                        <a:rPr sz="1000" kern="0" spc="-2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.4f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294" algn="l" rtl="0" eaLnBrk="0">
                        <a:lnSpc>
                          <a:spcPts val="1855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6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"="</a:t>
                      </a:r>
                      <a:r>
                        <a:rPr sz="1000" kern="0" spc="1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*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60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0" name="textbox 270"/>
          <p:cNvSpPr/>
          <p:nvPr/>
        </p:nvSpPr>
        <p:spPr>
          <a:xfrm>
            <a:off x="451053" y="8683294"/>
            <a:ext cx="6665594" cy="139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6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6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朴素贝叶斯算法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3334" algn="l" rtl="0" eaLnBrk="0">
              <a:lnSpc>
                <a:spcPct val="95000"/>
              </a:lnSpc>
              <a:spcBef>
                <a:spcPts val="1007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核心思想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04165" algn="l" rtl="0" eaLnBrk="0">
              <a:lnSpc>
                <a:spcPct val="134000"/>
              </a:lnSpc>
              <a:spcBef>
                <a:spcPts val="19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像预言家一样，通过历史事件的概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率预测新事件，可将它当做一个“经验判断小能手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”。比如通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过过去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天中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阴天→下雨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的概率，预测明天是否带伞。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8775" algn="l" rtl="0" eaLnBrk="0">
              <a:lnSpc>
                <a:spcPct val="97000"/>
              </a:lnSpc>
              <a:tabLst/>
            </a:pPr>
            <a:r>
              <a:rPr sz="1300" kern="0" spc="4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朴素贝叶斯是一种基于贝叶斯定理的简单概率分类器，它假设特征之间相</a:t>
            </a:r>
            <a:r>
              <a:rPr sz="1300" kern="0" spc="3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互独立（即</a:t>
            </a:r>
            <a:endParaRPr sz="1300" dirty="0">
              <a:latin typeface="SimSun"/>
              <a:ea typeface="SimSun"/>
              <a:cs typeface="SimSun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1110467" y="5248852"/>
            <a:ext cx="10541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tabLst>
                <a:tab pos="92075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 274"/>
          <p:cNvSpPr/>
          <p:nvPr/>
        </p:nvSpPr>
        <p:spPr>
          <a:xfrm>
            <a:off x="449833" y="488593"/>
            <a:ext cx="6583044" cy="8072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ts val="2298"/>
              </a:lnSpc>
              <a:tabLst/>
            </a:pPr>
            <a:r>
              <a:rPr sz="1300" kern="0" spc="-10" dirty="0">
                <a:solidFill>
                  <a:srgbClr val="333333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"</a:t>
            </a:r>
            <a:r>
              <a:rPr sz="1300" kern="0" spc="-1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朴素</a:t>
            </a:r>
            <a:r>
              <a:rPr sz="1300" kern="0" spc="-10" dirty="0">
                <a:solidFill>
                  <a:srgbClr val="333333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"</a:t>
            </a:r>
            <a:r>
              <a:rPr sz="1300" kern="0" spc="-120" dirty="0">
                <a:solidFill>
                  <a:srgbClr val="333333">
                    <a:alpha val="100000"/>
                  </a:srgbClr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300" kern="0" spc="-1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的假设）。</a:t>
            </a:r>
            <a:endParaRPr sz="1300" dirty="0">
              <a:latin typeface="SimSun"/>
              <a:ea typeface="SimSun"/>
              <a:cs typeface="SimSun"/>
            </a:endParaRPr>
          </a:p>
          <a:p>
            <a:pPr marL="23495" algn="l" rtl="0" eaLnBrk="0">
              <a:lnSpc>
                <a:spcPct val="95000"/>
              </a:lnSpc>
              <a:spcBef>
                <a:spcPts val="885"/>
              </a:spcBef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贝叶斯定理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8295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贝叶斯定理描述了在</a:t>
            </a:r>
            <a:r>
              <a:rPr sz="1200" b="1" kern="0" spc="0" dirty="0">
                <a:solidFill>
                  <a:srgbClr val="0000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已知先验知识的情况下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，如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何根据新的证据更新事件的概率：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852295" algn="l" rtl="0" eaLnBrk="0">
              <a:lnSpc>
                <a:spcPts val="2249"/>
              </a:lnSpc>
              <a:spcBef>
                <a:spcPts val="10"/>
              </a:spcBef>
              <a:tabLst/>
            </a:pP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31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(A|B)</a:t>
            </a:r>
            <a:r>
              <a:rPr sz="1200" kern="0" spc="16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200" kern="0" spc="21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33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(B</a:t>
            </a:r>
            <a:r>
              <a:rPr sz="1200" kern="0" spc="-3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|A)</a:t>
            </a:r>
            <a:r>
              <a:rPr sz="1200" kern="0" spc="23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*</a:t>
            </a:r>
            <a:r>
              <a:rPr sz="1200" kern="0" spc="21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33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(A)</a:t>
            </a:r>
            <a:r>
              <a:rPr sz="1200" kern="0" spc="2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200" kern="0" spc="20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33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(B)</a:t>
            </a:r>
            <a:endParaRPr sz="1200" dirty="0">
              <a:latin typeface="Courier New"/>
              <a:ea typeface="Courier New"/>
              <a:cs typeface="Courier New"/>
            </a:endParaRPr>
          </a:p>
          <a:p>
            <a:pPr marL="318134" algn="l" rtl="0" eaLnBrk="0">
              <a:lnSpc>
                <a:spcPct val="92000"/>
              </a:lnSpc>
              <a:spcBef>
                <a:spcPts val="9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其中：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53"/>
              </a:lnSpc>
              <a:spcBef>
                <a:spcPts val="612"/>
              </a:spcBef>
              <a:tabLst/>
            </a:pP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70" dirty="0">
                <a:solidFill>
                  <a:srgbClr val="C55E1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P(A|B)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：在</a:t>
            </a:r>
            <a:r>
              <a:rPr sz="1200" kern="0" spc="-28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</a:t>
            </a:r>
            <a:r>
              <a:rPr sz="1200" kern="0" spc="-23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发生的情况下</a:t>
            </a:r>
            <a:r>
              <a:rPr sz="1200" kern="0" spc="-29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</a:t>
            </a:r>
            <a:r>
              <a:rPr sz="1200" kern="0" spc="-24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发生的概率（后</a:t>
            </a:r>
            <a:r>
              <a:rPr sz="1200" kern="0" spc="-2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验概率）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53"/>
              </a:lnSpc>
              <a:spcBef>
                <a:spcPts val="574"/>
              </a:spcBef>
              <a:tabLst/>
            </a:pP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70" dirty="0">
                <a:solidFill>
                  <a:srgbClr val="C55E1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P(B|A)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：在</a:t>
            </a:r>
            <a:r>
              <a:rPr sz="1200" kern="0" spc="-29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</a:t>
            </a:r>
            <a:r>
              <a:rPr sz="1200" kern="0" spc="-23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发生的情况下</a:t>
            </a:r>
            <a:r>
              <a:rPr sz="1200" kern="0" spc="-28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B</a:t>
            </a:r>
            <a:r>
              <a:rPr sz="1200" kern="0" spc="-24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发生的</a:t>
            </a:r>
            <a:r>
              <a:rPr sz="1200" kern="0" spc="-2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概率（似然）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95"/>
              </a:lnSpc>
              <a:spcBef>
                <a:spcPts val="574"/>
              </a:spcBef>
              <a:tabLst/>
            </a:pP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70" dirty="0">
                <a:solidFill>
                  <a:srgbClr val="C55E1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P(A)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：A</a:t>
            </a:r>
            <a:r>
              <a:rPr sz="1200" kern="0" spc="-24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发生的概率（先</a:t>
            </a:r>
            <a:r>
              <a:rPr sz="1200" kern="0" spc="-2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验概率）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95"/>
              </a:lnSpc>
              <a:spcBef>
                <a:spcPts val="532"/>
              </a:spcBef>
              <a:tabLst/>
            </a:pP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70" dirty="0">
                <a:solidFill>
                  <a:srgbClr val="C55E1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P(B)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：B</a:t>
            </a:r>
            <a:r>
              <a:rPr sz="1200" kern="0" spc="-24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发生的</a:t>
            </a:r>
            <a:r>
              <a:rPr sz="1200" kern="0" spc="-20" dirty="0">
                <a:solidFill>
                  <a:srgbClr val="C55E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概率（证据）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576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在分类中的应用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ct val="92000"/>
              </a:lnSpc>
              <a:spcBef>
                <a:spcPts val="657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在分类问题中，我们想找到最可能的类别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，给定特征</a:t>
            </a:r>
            <a:r>
              <a:rPr sz="1200" kern="0" spc="-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₁, X₂,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...,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Xₙ</a:t>
            </a:r>
            <a:r>
              <a:rPr sz="12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79000"/>
              </a:lnSpc>
              <a:spcBef>
                <a:spcPts val="1498"/>
              </a:spcBef>
              <a:tabLst/>
            </a:pP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29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(C</a:t>
            </a:r>
            <a:r>
              <a:rPr sz="1200" kern="0" spc="-3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|X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₁</a:t>
            </a:r>
            <a:r>
              <a:rPr sz="1200" kern="0" spc="-9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200" kern="0" spc="1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X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₂</a:t>
            </a:r>
            <a:r>
              <a:rPr sz="1200" kern="0" spc="-10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sz="1200" kern="0" spc="39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...,</a:t>
            </a:r>
            <a:r>
              <a:rPr sz="1200" kern="0" spc="1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X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n  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)</a:t>
            </a:r>
            <a:r>
              <a:rPr sz="1200" kern="0" spc="2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∝ 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3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(C)</a:t>
            </a:r>
            <a:r>
              <a:rPr sz="1200" kern="0" spc="2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*</a:t>
            </a:r>
            <a:r>
              <a:rPr sz="1200" kern="0" spc="21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3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(X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₁</a:t>
            </a:r>
            <a:r>
              <a:rPr sz="1200" kern="0" spc="7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|C)</a:t>
            </a:r>
            <a:r>
              <a:rPr sz="1200" kern="0" spc="2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*</a:t>
            </a:r>
            <a:r>
              <a:rPr sz="1200" kern="0" spc="20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33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(X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₂</a:t>
            </a:r>
            <a:r>
              <a:rPr sz="1200" kern="0" spc="80" dirty="0">
                <a:solidFill>
                  <a:srgbClr val="333333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|C)</a:t>
            </a:r>
            <a:r>
              <a:rPr sz="1200" kern="0" spc="2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*</a:t>
            </a:r>
            <a:r>
              <a:rPr sz="1200" kern="0" spc="39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...</a:t>
            </a:r>
            <a:r>
              <a:rPr sz="1200" kern="0" spc="2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*</a:t>
            </a:r>
            <a:r>
              <a:rPr sz="1200" kern="0" spc="21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P</a:t>
            </a:r>
            <a:r>
              <a:rPr sz="1200" kern="0" spc="-34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(X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Segoe UI Symbol"/>
                <a:ea typeface="Segoe UI Symbol"/>
                <a:cs typeface="Segoe UI Symbol"/>
              </a:rPr>
              <a:t>n    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|C)</a:t>
            </a:r>
            <a:endParaRPr sz="1200" dirty="0">
              <a:latin typeface="Courier New"/>
              <a:ea typeface="Courier New"/>
              <a:cs typeface="Courier New"/>
            </a:endParaRPr>
          </a:p>
          <a:p>
            <a:pPr marL="318770" algn="l" rtl="0" eaLnBrk="0">
              <a:lnSpc>
                <a:spcPct val="95000"/>
              </a:lnSpc>
              <a:spcBef>
                <a:spcPts val="119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我们选择使这个概率最大的类别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作为预测结果。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3334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示例：垃圾邮件分类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ct val="94000"/>
              </a:lnSpc>
              <a:spcBef>
                <a:spcPts val="67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假设我们有一个包含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免费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赢取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"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两个词的邮件，想判断它是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否是垃圾邮件：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95"/>
              </a:lnSpc>
              <a:spcBef>
                <a:spcPts val="621"/>
              </a:spcBef>
              <a:tabLst/>
            </a:pPr>
            <a:r>
              <a:rPr sz="1200" kern="0" spc="-1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2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1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P(垃圾邮件)</a:t>
            </a:r>
            <a:r>
              <a:rPr sz="1200" kern="0" spc="-1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1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</a:t>
            </a:r>
            <a:r>
              <a:rPr sz="1200" kern="0" spc="-1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1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0.3（先验概率）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53"/>
              </a:lnSpc>
              <a:spcBef>
                <a:spcPts val="532"/>
              </a:spcBef>
              <a:tabLst/>
            </a:pPr>
            <a:r>
              <a:rPr sz="1200" kern="0" spc="-3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4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P("免费"</a:t>
            </a:r>
            <a:r>
              <a:rPr sz="1200" kern="0" spc="-31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|垃圾邮件)</a:t>
            </a:r>
            <a:r>
              <a:rPr sz="1200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</a:t>
            </a:r>
            <a:r>
              <a:rPr sz="1200" kern="0" spc="6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0.6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53"/>
              </a:lnSpc>
              <a:spcBef>
                <a:spcPts val="574"/>
              </a:spcBef>
              <a:tabLst/>
            </a:pPr>
            <a:r>
              <a:rPr sz="1200" kern="0" spc="-3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4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P("赢取"</a:t>
            </a:r>
            <a:r>
              <a:rPr sz="1200" kern="0" spc="-31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|垃圾邮件)</a:t>
            </a:r>
            <a:r>
              <a:rPr sz="1200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</a:t>
            </a:r>
            <a:r>
              <a:rPr sz="1200" kern="0" spc="6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0.4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53"/>
              </a:lnSpc>
              <a:spcBef>
                <a:spcPts val="574"/>
              </a:spcBef>
              <a:tabLst/>
            </a:pPr>
            <a:r>
              <a:rPr sz="1200" kern="0" spc="-2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7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P("免费"</a:t>
            </a:r>
            <a:r>
              <a:rPr sz="1200" kern="0" spc="-31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|非垃圾邮件)</a:t>
            </a:r>
            <a:r>
              <a:rPr sz="1200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</a:t>
            </a:r>
            <a:r>
              <a:rPr sz="1200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0.1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53"/>
              </a:lnSpc>
              <a:spcBef>
                <a:spcPts val="574"/>
              </a:spcBef>
              <a:tabLst/>
            </a:pPr>
            <a:r>
              <a:rPr sz="1200" kern="0" spc="-2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70" dirty="0">
                <a:solidFill>
                  <a:srgbClr val="2D54A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P("赢取"</a:t>
            </a:r>
            <a:r>
              <a:rPr sz="1200" kern="0" spc="-30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|非垃圾邮件)</a:t>
            </a:r>
            <a:r>
              <a:rPr sz="1200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</a:t>
            </a:r>
            <a:r>
              <a:rPr sz="1200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</a:t>
            </a:r>
            <a:r>
              <a:rPr sz="1200" b="1" kern="0" spc="-30" dirty="0">
                <a:solidFill>
                  <a:srgbClr val="2D54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05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ct val="95000"/>
              </a:lnSpc>
              <a:spcBef>
                <a:spcPts val="618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对于包含这两个词的邮件：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53"/>
              </a:lnSpc>
              <a:spcBef>
                <a:spcPts val="616"/>
              </a:spcBef>
              <a:tabLst/>
            </a:pPr>
            <a:r>
              <a:rPr sz="12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P(垃圾邮件|"免费","赢取")</a:t>
            </a:r>
            <a:r>
              <a:rPr sz="1200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∝</a:t>
            </a:r>
            <a:r>
              <a:rPr sz="1200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0.3</a:t>
            </a:r>
            <a:r>
              <a:rPr sz="1200" kern="0" spc="23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×</a:t>
            </a:r>
            <a:r>
              <a:rPr sz="1200" kern="0" spc="5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0.6</a:t>
            </a:r>
            <a:r>
              <a:rPr sz="1200" kern="0" spc="2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×</a:t>
            </a:r>
            <a:r>
              <a:rPr sz="1200" kern="0" spc="7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0.4</a:t>
            </a:r>
            <a:r>
              <a:rPr sz="1200" kern="0" spc="4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</a:t>
            </a:r>
            <a:r>
              <a:rPr sz="1200" kern="0" spc="6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3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0.072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4484" algn="l" rtl="0" eaLnBrk="0">
              <a:lnSpc>
                <a:spcPts val="1453"/>
              </a:lnSpc>
              <a:spcBef>
                <a:spcPts val="574"/>
              </a:spcBef>
              <a:tabLst/>
            </a:pPr>
            <a:r>
              <a:rPr sz="1200" kern="0" spc="-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P(非垃圾邮件|"免费","赢取")</a:t>
            </a:r>
            <a:r>
              <a:rPr sz="1200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∝</a:t>
            </a:r>
            <a:r>
              <a:rPr sz="1200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0.7</a:t>
            </a:r>
            <a:r>
              <a:rPr sz="1200" kern="0" spc="23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×</a:t>
            </a:r>
            <a:r>
              <a:rPr sz="1200" kern="0" spc="7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0.1</a:t>
            </a:r>
            <a:r>
              <a:rPr sz="1200" kern="0" spc="21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×</a:t>
            </a:r>
            <a:r>
              <a:rPr sz="1200" kern="0" spc="7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0.05</a:t>
            </a:r>
            <a:r>
              <a:rPr sz="1200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=</a:t>
            </a:r>
            <a:r>
              <a:rPr sz="1200" kern="0" spc="7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0.0035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36550" algn="l" rtl="0" eaLnBrk="0">
              <a:lnSpc>
                <a:spcPct val="95000"/>
              </a:lnSpc>
              <a:spcBef>
                <a:spcPts val="618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由于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0.072 &gt; 0.0035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，我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们将其分类为垃圾邮件。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5875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朴素贝叶斯分类器在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以下场景中表现优异：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464184" algn="l" rtl="0" eaLnBrk="0">
              <a:lnSpc>
                <a:spcPct val="94000"/>
              </a:lnSpc>
              <a:spcBef>
                <a:spcPts val="826"/>
              </a:spcBef>
              <a:tabLst>
                <a:tab pos="54736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文本分类：垃圾邮件检测、情感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分析、新闻分类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464184" algn="l" rtl="0" eaLnBrk="0">
              <a:lnSpc>
                <a:spcPct val="95000"/>
              </a:lnSpc>
              <a:spcBef>
                <a:spcPts val="977"/>
              </a:spcBef>
              <a:tabLst>
                <a:tab pos="55371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多类别分类：文档分类、产品分类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464184" algn="l" rtl="0" eaLnBrk="0">
              <a:lnSpc>
                <a:spcPct val="95000"/>
              </a:lnSpc>
              <a:spcBef>
                <a:spcPts val="977"/>
              </a:spcBef>
              <a:tabLst>
                <a:tab pos="549909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实时预测：需要快速响应的应用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464184" algn="l" rtl="0" eaLnBrk="0">
              <a:lnSpc>
                <a:spcPct val="95000"/>
              </a:lnSpc>
              <a:spcBef>
                <a:spcPts val="968"/>
              </a:spcBef>
              <a:tabLst>
                <a:tab pos="550544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高维数据：特征数量多的数据集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64184" algn="l" rtl="0" eaLnBrk="0">
              <a:lnSpc>
                <a:spcPct val="94000"/>
              </a:lnSpc>
              <a:spcBef>
                <a:spcPts val="3"/>
              </a:spcBef>
              <a:tabLst>
                <a:tab pos="54610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推荐系统：基于内容的推荐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276" name="picture 2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000" y="8353425"/>
            <a:ext cx="152400" cy="152400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000" y="8056244"/>
            <a:ext cx="152400" cy="152400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000" y="7759065"/>
            <a:ext cx="152400" cy="152400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000" y="7461884"/>
            <a:ext cx="152400" cy="152400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000" y="7164704"/>
            <a:ext cx="152400" cy="152400"/>
          </a:xfrm>
          <a:prstGeom prst="rect">
            <a:avLst/>
          </a:prstGeom>
        </p:spPr>
      </p:pic>
      <p:graphicFrame>
        <p:nvGraphicFramePr>
          <p:cNvPr id="286" name="table 286"/>
          <p:cNvGraphicFramePr>
            <a:graphicFrameLocks noGrp="1"/>
          </p:cNvGraphicFramePr>
          <p:nvPr/>
        </p:nvGraphicFramePr>
        <p:xfrm>
          <a:off x="522350" y="8599804"/>
          <a:ext cx="6515100" cy="1459864"/>
        </p:xfrm>
        <a:graphic>
          <a:graphicData uri="http://schemas.openxmlformats.org/drawingml/2006/table">
            <a:tbl>
              <a:tblPr/>
              <a:tblGrid>
                <a:gridCol w="2303145"/>
                <a:gridCol w="4211954"/>
              </a:tblGrid>
              <a:tr h="2520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298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优点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2135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局限性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77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515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>
                          <a:tab pos="68897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简单、快速、高效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12750" algn="l" rtl="0" eaLnBrk="0">
                        <a:lnSpc>
                          <a:spcPct val="95000"/>
                        </a:lnSpc>
                        <a:spcBef>
                          <a:spcPts val="197"/>
                        </a:spcBef>
                        <a:tabLst>
                          <a:tab pos="53276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对小规模数据表现良好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488950" algn="l" rtl="0" eaLnBrk="0">
                        <a:lnSpc>
                          <a:spcPct val="95000"/>
                        </a:lnSpc>
                        <a:spcBef>
                          <a:spcPts val="180"/>
                        </a:spcBef>
                        <a:tabLst>
                          <a:tab pos="61531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能够处理多分类问题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565150" algn="l" rtl="0" eaLnBrk="0">
                        <a:lnSpc>
                          <a:spcPct val="95000"/>
                        </a:lnSpc>
                        <a:spcBef>
                          <a:spcPts val="192"/>
                        </a:spcBef>
                        <a:tabLst>
                          <a:tab pos="685165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对缺失数据不敏感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56614" indent="-596265" algn="l" rtl="0" eaLnBrk="0">
                        <a:lnSpc>
                          <a:spcPct val="102000"/>
                        </a:lnSpc>
                        <a:spcBef>
                          <a:spcPts val="183"/>
                        </a:spcBef>
                        <a:tabLst>
                          <a:tab pos="38100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适合增量学习（可以逐步更</a:t>
                      </a:r>
                      <a:r>
                        <a:rPr sz="12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新模型）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264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>
                          <a:tab pos="109664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特征独立性假设在现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实中很少成立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651635" indent="-1430655" algn="l" rtl="0" eaLnBrk="0">
                        <a:lnSpc>
                          <a:spcPct val="101000"/>
                        </a:lnSpc>
                        <a:spcBef>
                          <a:spcPts val="200"/>
                        </a:spcBef>
                        <a:tabLst>
                          <a:tab pos="340359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对输入数据的分布有假设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（如高斯朴素贝叶斯假设数据服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从正态分布）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901064" algn="l" rtl="0" eaLnBrk="0">
                        <a:lnSpc>
                          <a:spcPct val="94000"/>
                        </a:lnSpc>
                        <a:spcBef>
                          <a:spcPts val="202"/>
                        </a:spcBef>
                        <a:tabLst>
                          <a:tab pos="1020444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概率估计可能不准确（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零频率问题）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05864" algn="l" rtl="0" eaLnBrk="0">
                        <a:lnSpc>
                          <a:spcPct val="95000"/>
                        </a:lnSpc>
                        <a:spcBef>
                          <a:spcPts val="202"/>
                        </a:spcBef>
                        <a:tabLst>
                          <a:tab pos="1327150" algn="l"/>
                        </a:tabLst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性能可能不如更复杂的模型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88" name="picture 2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79214" y="9745344"/>
            <a:ext cx="152400" cy="152400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74414" y="9547225"/>
            <a:ext cx="152400" cy="152400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94329" y="9152254"/>
            <a:ext cx="152400" cy="152400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50614" y="8954769"/>
            <a:ext cx="152400" cy="152400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0554" y="9646919"/>
            <a:ext cx="152400" cy="152400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35355" y="9448800"/>
            <a:ext cx="152400" cy="152400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59155" y="9251315"/>
            <a:ext cx="152400" cy="152400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2954" y="9053830"/>
            <a:ext cx="152399" cy="152400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35355" y="8856344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 306"/>
          <p:cNvSpPr/>
          <p:nvPr/>
        </p:nvSpPr>
        <p:spPr>
          <a:xfrm>
            <a:off x="2004060" y="8284844"/>
            <a:ext cx="128016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08" name="table 308"/>
          <p:cNvGraphicFramePr>
            <a:graphicFrameLocks noGrp="1"/>
          </p:cNvGraphicFramePr>
          <p:nvPr/>
        </p:nvGraphicFramePr>
        <p:xfrm>
          <a:off x="385571" y="4094480"/>
          <a:ext cx="6788784" cy="5960745"/>
        </p:xfrm>
        <a:graphic>
          <a:graphicData uri="http://schemas.openxmlformats.org/drawingml/2006/table">
            <a:tbl>
              <a:tblPr/>
              <a:tblGrid>
                <a:gridCol w="6788784"/>
              </a:tblGrid>
              <a:tr h="5957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导入必要的库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52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collections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nte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matplotlib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pyplot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wordcloud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WordCloud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930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warnings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.filterwarnings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'ignore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94"/>
                        </a:spcBef>
                        <a:tabLst/>
                      </a:pP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设置中文字体和图形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样式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59"/>
                        </a:lnSpc>
                        <a:spcBef>
                          <a:spcPts val="22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rcParams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font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sans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serif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SimHei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用来正常显示中文标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439"/>
                        </a:lnSpc>
                        <a:spcBef>
                          <a:spcPts val="10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rcParams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axes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unicode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minus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r>
                        <a:rPr sz="1000" kern="0" spc="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用来正常显示负号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953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加载用户字典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3185" algn="l" rtl="0" eaLnBrk="0">
                        <a:lnSpc>
                          <a:spcPct val="81000"/>
                        </a:lnSpc>
                        <a:spcBef>
                          <a:spcPts val="47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userdict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user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dict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txt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9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加载停用词表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930" algn="l" rtl="0" eaLnBrk="0">
                        <a:lnSpc>
                          <a:spcPts val="1667"/>
                        </a:lnSpc>
                        <a:spcBef>
                          <a:spcPts val="12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with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open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txt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"r"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encoding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utf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-8"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663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stop_words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.read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().split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4455" algn="l" rtl="0" eaLnBrk="0">
                        <a:lnSpc>
                          <a:spcPts val="1496"/>
                        </a:lnSpc>
                        <a:spcBef>
                          <a:spcPts val="5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[]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保存诈骗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关键词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8105" algn="l" rtl="0" eaLnBrk="0">
                        <a:lnSpc>
                          <a:spcPts val="1689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[]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非诈骗关键词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9375" algn="l" rtl="0" eaLnBrk="0">
                        <a:lnSpc>
                          <a:spcPts val="1244"/>
                        </a:lnSpc>
                        <a:spcBef>
                          <a:spcPts val="1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1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extract</a:t>
                      </a:r>
                      <a:r>
                        <a:rPr sz="1000" kern="0" spc="-24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True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ts val="1286"/>
                        </a:lnSpc>
                        <a:tabLst/>
                      </a:pP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使用正则表达式剔除文本中的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非中文字符</a:t>
                      </a:r>
                      <a:r>
                        <a:rPr sz="1000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[^\u4e00-\u9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5]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固定代码格式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7345" algn="l" rtl="0" eaLnBrk="0">
                        <a:lnSpc>
                          <a:spcPts val="1775"/>
                        </a:lnSpc>
                        <a:spcBef>
                          <a:spcPts val="10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.sub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r"</a:t>
                      </a:r>
                      <a:r>
                        <a:rPr sz="1000" kern="0" spc="-3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[^\u4e00-\u9fa5]"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6000"/>
                        </a:lnSpc>
                        <a:spcBef>
                          <a:spcPts val="41"/>
                        </a:spcBef>
                        <a:tabLst/>
                      </a:pP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进行分词并过滤停用</a:t>
                      </a: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词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1790" algn="l" rtl="0" eaLnBrk="0">
                        <a:lnSpc>
                          <a:spcPts val="1775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fliter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lcut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417319" algn="l" rtl="0" eaLnBrk="0">
                        <a:lnSpc>
                          <a:spcPct val="77000"/>
                        </a:lnSpc>
                        <a:spcBef>
                          <a:spcPts val="17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stop_words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and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&gt;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489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4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保存分词结果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0520" algn="l" rtl="0" eaLnBrk="0">
                        <a:lnSpc>
                          <a:spcPct val="76000"/>
                        </a:lnSpc>
                        <a:spcBef>
                          <a:spcPts val="519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15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7855" algn="l" rtl="0" eaLnBrk="0">
                        <a:lnSpc>
                          <a:spcPct val="77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extend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fliter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1290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else</a:t>
                      </a:r>
                      <a:r>
                        <a:rPr sz="1000" kern="0" spc="-3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1505" algn="l" rtl="0" eaLnBrk="0">
                        <a:lnSpc>
                          <a:spcPct val="7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extend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fliter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0" name="textbox 310"/>
          <p:cNvSpPr/>
          <p:nvPr/>
        </p:nvSpPr>
        <p:spPr>
          <a:xfrm>
            <a:off x="449833" y="2074443"/>
            <a:ext cx="6666230" cy="2002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3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实战案例：基于朴素贝叶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斯算法的诈骗短信识别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2027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任务目标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7145" indent="302895" algn="l" rtl="0" eaLnBrk="0">
              <a:lnSpc>
                <a:spcPct val="133000"/>
              </a:lnSpc>
              <a:spcBef>
                <a:spcPts val="392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该任务的核心是</a:t>
            </a:r>
            <a:r>
              <a:rPr sz="1200" b="1" kern="0" spc="2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利用机</a:t>
            </a:r>
            <a:r>
              <a:rPr sz="1200" b="1" kern="0" spc="1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器学习技术从海量短信数据中学习诈骗短信的语言特征模式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，构建一个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高效、准确的自动化识别系统，</a:t>
            </a:r>
            <a:r>
              <a:rPr sz="1200" b="1" kern="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能够准确区分诈骗</a:t>
            </a:r>
            <a:r>
              <a:rPr sz="1200" b="1" kern="0" spc="-1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与正常短信的</a:t>
            </a:r>
            <a:r>
              <a:rPr sz="1200" kern="0" spc="-30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10" dirty="0">
                <a:solidFill>
                  <a:srgbClr val="C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 </a:t>
            </a:r>
            <a:r>
              <a:rPr sz="1200" b="1" kern="0" spc="-1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模型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8770" algn="l" rtl="0" eaLnBrk="0">
              <a:lnSpc>
                <a:spcPct val="95000"/>
              </a:lnSpc>
              <a:spcBef>
                <a:spcPts val="660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数据集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4604" indent="300990" algn="l" rtl="0" eaLnBrk="0">
              <a:lnSpc>
                <a:spcPct val="128000"/>
              </a:lnSpc>
              <a:spcBef>
                <a:spcPts val="375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content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1200" kern="0" spc="-2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target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三个字段。其中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content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为短信的内容信息，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target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有两个值即“诈骗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”和“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非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诈骗</a:t>
            </a:r>
            <a:r>
              <a:rPr sz="1200" kern="0" spc="-4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数据探索关键代码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312" name="table 312"/>
          <p:cNvGraphicFramePr>
            <a:graphicFrameLocks noGrp="1"/>
          </p:cNvGraphicFramePr>
          <p:nvPr/>
        </p:nvGraphicFramePr>
        <p:xfrm>
          <a:off x="454151" y="715009"/>
          <a:ext cx="6668769" cy="1318894"/>
        </p:xfrm>
        <a:graphic>
          <a:graphicData uri="http://schemas.openxmlformats.org/drawingml/2006/table">
            <a:tbl>
              <a:tblPr/>
              <a:tblGrid>
                <a:gridCol w="1508760"/>
                <a:gridCol w="1205230"/>
                <a:gridCol w="1882139"/>
                <a:gridCol w="2072639"/>
              </a:tblGrid>
              <a:tr h="4057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991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3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变体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344" algn="l" rtl="0" eaLnBrk="0">
                        <a:lnSpc>
                          <a:spcPct val="9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适用数据类型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5969" algn="l" rtl="0" eaLnBrk="0">
                        <a:lnSpc>
                          <a:spcPct val="9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特点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0405" algn="l" rtl="0" eaLnBrk="0">
                        <a:lnSpc>
                          <a:spcPct val="9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3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典型应用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</a:tr>
              <a:tr h="303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0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高斯朴素贝叶斯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连续数据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542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假设特征服从高斯分布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数值型分类问题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3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938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多项式朴素贝叶斯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30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离散计数数据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2254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使用特征的频率计数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ct val="9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文本分类、文档分类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764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伯努利朴素贝叶斯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204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二元/布尔数据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2434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特征值为</a:t>
                      </a:r>
                      <a:r>
                        <a:rPr sz="1200" kern="0" spc="-2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r>
                        <a:rPr sz="1200" kern="0" spc="-24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或</a:t>
                      </a:r>
                      <a:r>
                        <a:rPr sz="1200" kern="0" spc="-16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文档分类（词出现与否）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4" name="textbox 314"/>
          <p:cNvSpPr/>
          <p:nvPr/>
        </p:nvSpPr>
        <p:spPr>
          <a:xfrm>
            <a:off x="453491" y="497103"/>
            <a:ext cx="1086485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朴素贝叶斯变体</a:t>
            </a:r>
            <a:endParaRPr sz="12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" name="table 316"/>
          <p:cNvGraphicFramePr>
            <a:graphicFrameLocks noGrp="1"/>
          </p:cNvGraphicFramePr>
          <p:nvPr/>
        </p:nvGraphicFramePr>
        <p:xfrm>
          <a:off x="385571" y="457200"/>
          <a:ext cx="6788784" cy="6213475"/>
        </p:xfrm>
        <a:graphic>
          <a:graphicData uri="http://schemas.openxmlformats.org/drawingml/2006/table">
            <a:tbl>
              <a:tblPr/>
              <a:tblGrid>
                <a:gridCol w="6788784"/>
              </a:tblGrid>
              <a:tr h="6210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end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i="1" u="sng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4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i="1" u="sng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4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extract</a:t>
                      </a:r>
                      <a:r>
                        <a:rPr sz="1000" i="1" kern="0" spc="-2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(text)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145000"/>
                        </a:lnSpc>
                        <a:spcBef>
                          <a:spcPts val="31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__name__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u="sng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u="sng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77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读取数据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6075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read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message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处理诈骗的数据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0995" indent="5080" algn="l" rtl="0" eaLnBrk="0">
                        <a:lnSpc>
                          <a:spcPct val="116000"/>
                        </a:lnSpc>
                        <a:spcBef>
                          <a:spcPts val="20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诈骗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content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apply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lambda</a:t>
                      </a: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extract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 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775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Counter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501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提取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  <a:r>
                        <a:rPr sz="1000" i="1" kern="0" spc="-3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个高频涉及到诈骗的词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115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top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_10_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most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common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5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将结果转换成字典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115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top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_10_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dict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top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_10_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非诈骗数据信息的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处理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6075" algn="l" rtl="0" eaLnBrk="0">
                        <a:lnSpc>
                          <a:spcPts val="1775"/>
                        </a:lnSpc>
                        <a:spcBef>
                          <a:spcPts val="20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非诈骗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content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apply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lambda</a:t>
                      </a: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930" algn="l" rtl="0" eaLnBrk="0">
                        <a:lnSpc>
                          <a:spcPts val="1308"/>
                        </a:lnSpc>
                        <a:spcBef>
                          <a:spcPts val="15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extract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7000"/>
                        </a:lnSpc>
                        <a:spcBef>
                          <a:spcPts val="17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7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4804" algn="l" rtl="0" eaLnBrk="0">
                        <a:lnSpc>
                          <a:spcPts val="1775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Counter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501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提取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  <a:r>
                        <a:rPr sz="1000" i="1" kern="0" spc="-3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个高频涉及到非诈骗的词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480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top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_10_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most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common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将结果转换成字典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480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top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_10_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dict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top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_10_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调用可视化的函数进行分析结果的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展示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76000"/>
                        </a:lnSpc>
                        <a:spcBef>
                          <a:spcPts val="30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plot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top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_10_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top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119" algn="l" rtl="0" eaLnBrk="0">
                        <a:lnSpc>
                          <a:spcPct val="75000"/>
                        </a:lnSpc>
                        <a:spcBef>
                          <a:spcPts val="6"/>
                        </a:spcBef>
                        <a:tabLst>
                          <a:tab pos="161289" algn="l"/>
                        </a:tabLst>
                      </a:pPr>
                      <a:r>
                        <a:rPr sz="1000" u="sng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	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8" name="table 318"/>
          <p:cNvGraphicFramePr>
            <a:graphicFrameLocks noGrp="1"/>
          </p:cNvGraphicFramePr>
          <p:nvPr/>
        </p:nvGraphicFramePr>
        <p:xfrm>
          <a:off x="671702" y="6753986"/>
          <a:ext cx="6207759" cy="2597150"/>
        </p:xfrm>
        <a:graphic>
          <a:graphicData uri="http://schemas.openxmlformats.org/drawingml/2006/table">
            <a:tbl>
              <a:tblPr/>
              <a:tblGrid>
                <a:gridCol w="6207759"/>
              </a:tblGrid>
              <a:tr h="2590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20" name="picture 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1227" y="6763511"/>
            <a:ext cx="6188963" cy="2578607"/>
          </a:xfrm>
          <a:prstGeom prst="rect">
            <a:avLst/>
          </a:prstGeom>
        </p:spPr>
      </p:pic>
      <p:graphicFrame>
        <p:nvGraphicFramePr>
          <p:cNvPr id="322" name="table 322"/>
          <p:cNvGraphicFramePr>
            <a:graphicFrameLocks noGrp="1"/>
          </p:cNvGraphicFramePr>
          <p:nvPr/>
        </p:nvGraphicFramePr>
        <p:xfrm>
          <a:off x="385571" y="9643109"/>
          <a:ext cx="6795134" cy="413384"/>
        </p:xfrm>
        <a:graphic>
          <a:graphicData uri="http://schemas.openxmlformats.org/drawingml/2006/table">
            <a:tbl>
              <a:tblPr/>
              <a:tblGrid>
                <a:gridCol w="6795134"/>
              </a:tblGrid>
              <a:tr h="4102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4" name="textbox 324"/>
          <p:cNvSpPr/>
          <p:nvPr/>
        </p:nvSpPr>
        <p:spPr>
          <a:xfrm>
            <a:off x="449833" y="9455162"/>
            <a:ext cx="1243964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模型训练关键代码</a:t>
            </a:r>
            <a:endParaRPr sz="12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 326"/>
          <p:cNvSpPr/>
          <p:nvPr/>
        </p:nvSpPr>
        <p:spPr>
          <a:xfrm>
            <a:off x="2084070" y="3260725"/>
            <a:ext cx="48006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" name="rect 328"/>
          <p:cNvSpPr/>
          <p:nvPr/>
        </p:nvSpPr>
        <p:spPr>
          <a:xfrm>
            <a:off x="1924050" y="3260725"/>
            <a:ext cx="16002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rect 330"/>
          <p:cNvSpPr/>
          <p:nvPr/>
        </p:nvSpPr>
        <p:spPr>
          <a:xfrm>
            <a:off x="3124200" y="3260725"/>
            <a:ext cx="8001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rect 332"/>
          <p:cNvSpPr/>
          <p:nvPr/>
        </p:nvSpPr>
        <p:spPr>
          <a:xfrm>
            <a:off x="2644139" y="3260725"/>
            <a:ext cx="48006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4" name="rect 334"/>
          <p:cNvSpPr/>
          <p:nvPr/>
        </p:nvSpPr>
        <p:spPr>
          <a:xfrm>
            <a:off x="2564129" y="3260725"/>
            <a:ext cx="8001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36" name="table 336"/>
          <p:cNvGraphicFramePr>
            <a:graphicFrameLocks noGrp="1"/>
          </p:cNvGraphicFramePr>
          <p:nvPr/>
        </p:nvGraphicFramePr>
        <p:xfrm>
          <a:off x="385571" y="457200"/>
          <a:ext cx="6795134" cy="9725025"/>
        </p:xfrm>
        <a:graphic>
          <a:graphicData uri="http://schemas.openxmlformats.org/drawingml/2006/table">
            <a:tbl>
              <a:tblPr/>
              <a:tblGrid>
                <a:gridCol w="6795134"/>
              </a:tblGrid>
              <a:tr h="9721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647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sklearn.feature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extracti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on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.text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CountVectorizer,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TfidfVectorizer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670050" algn="l" rtl="0" eaLnBrk="0">
                        <a:lnSpc>
                          <a:spcPts val="5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636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sklearn.metrics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classification_report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80000"/>
                        </a:lnSpc>
                        <a:spcBef>
                          <a:spcPts val="634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sklearn.model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selection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train_test_split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602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sklearn.naive_bayes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ort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MultinomialNB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644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sklearn.pipeline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510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加载停用词表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930" algn="l" rtl="0" eaLnBrk="0">
                        <a:lnSpc>
                          <a:spcPts val="1667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with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open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txt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"r"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encoding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utf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-8"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5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stop_words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.read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().split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ct val="81000"/>
                        </a:lnSpc>
                        <a:spcBef>
                          <a:spcPts val="13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append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5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501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用户词典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3185" algn="l" rtl="0" eaLnBrk="0">
                        <a:lnSpc>
                          <a:spcPct val="81000"/>
                        </a:lnSpc>
                        <a:spcBef>
                          <a:spcPts val="45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userdict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user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dict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txt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375" algn="l" rtl="0" eaLnBrk="0">
                        <a:lnSpc>
                          <a:spcPct val="76000"/>
                        </a:lnSpc>
                        <a:spcBef>
                          <a:spcPts val="64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9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chinese</a:t>
                      </a:r>
                      <a:r>
                        <a:rPr sz="1000" kern="0" spc="1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cut</a:t>
                      </a:r>
                      <a:r>
                        <a:rPr sz="1000" kern="0" spc="-28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950594" algn="l" rtl="0" eaLnBrk="0">
                        <a:lnSpc>
                          <a:spcPts val="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 </a:t>
                      </a: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ts val="1718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.sub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-3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[^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\u4e00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\u9fa5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1629" algn="l" rtl="0" eaLnBrk="0">
                        <a:lnSpc>
                          <a:spcPts val="1405"/>
                        </a:lnSpc>
                        <a:spcBef>
                          <a:spcPts val="10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lcut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8615" indent="-6985" algn="l" rtl="0" eaLnBrk="0">
                        <a:lnSpc>
                          <a:spcPct val="114000"/>
                        </a:lnSpc>
                        <a:spcBef>
                          <a:spcPts val="2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and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)&gt;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            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78000"/>
                        </a:lnSpc>
                        <a:spcBef>
                          <a:spcPts val="629"/>
                        </a:spcBef>
                        <a:tabLst/>
                      </a:pP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end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chines</a:t>
                      </a:r>
                      <a:r>
                        <a:rPr sz="1000" i="1" u="sng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</a:t>
                      </a:r>
                      <a:r>
                        <a:rPr sz="1000" i="1" u="sng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4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i="1" u="sng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4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cut</a:t>
                      </a:r>
                      <a:r>
                        <a:rPr sz="1000" i="1" kern="0" spc="-2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(text)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6000"/>
                        </a:lnSpc>
                        <a:spcBef>
                          <a:spcPts val="30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8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11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nb</a:t>
                      </a:r>
                      <a:r>
                        <a:rPr sz="1000" kern="0" spc="8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-28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tag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90575" algn="l" rtl="0" eaLnBrk="0">
                        <a:lnSpc>
                          <a:spcPts val="5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5000"/>
                        </a:lnSpc>
                        <a:spcBef>
                          <a:spcPts val="51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装载文本特征处理的函数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8000"/>
                        </a:lnSpc>
                        <a:spcBef>
                          <a:spcPts val="418"/>
                        </a:spcBef>
                        <a:tabLst/>
                      </a:pPr>
                      <a:r>
                        <a:rPr sz="1000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进行向量化</a:t>
                      </a:r>
                      <a:r>
                        <a:rPr sz="1000" kern="0" spc="-2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文本的特征处理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7345" algn="l" rtl="0" eaLnBrk="0">
                        <a:lnSpc>
                          <a:spcPts val="1667"/>
                        </a:lnSpc>
                        <a:spcBef>
                          <a:spcPts val="11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tfidf</a:t>
                      </a:r>
                      <a:r>
                        <a:rPr sz="10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TfidfVectorizer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4044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tokenizer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=chinese_text_cut,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7855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16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4044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token_pattern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None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7504" algn="l" rtl="0" eaLnBrk="0">
                        <a:lnSpc>
                          <a:spcPct val="75000"/>
                        </a:lnSpc>
                        <a:spcBef>
                          <a:spcPts val="195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5000"/>
                        </a:lnSpc>
                        <a:spcBef>
                          <a:spcPts val="51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进行训练文本数据的划分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410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划分训练集和测试集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77190" algn="l" rtl="0" eaLnBrk="0">
                        <a:lnSpc>
                          <a:spcPct val="77000"/>
                        </a:lnSpc>
                        <a:spcBef>
                          <a:spcPts val="507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(X_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410209" algn="l" rtl="0" eaLnBrk="0">
                        <a:lnSpc>
                          <a:spcPct val="71000"/>
                        </a:lnSpc>
                        <a:spcBef>
                          <a:spcPts val="702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484505" algn="l" rtl="0" eaLnBrk="0">
                        <a:lnSpc>
                          <a:spcPts val="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414655" algn="l" rtl="0" eaLnBrk="0">
                        <a:lnSpc>
                          <a:spcPct val="77000"/>
                        </a:lnSpc>
                        <a:spcBef>
                          <a:spcPts val="636"/>
                        </a:spcBef>
                        <a:tabLst/>
                      </a:pP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414655" algn="l" rtl="0" eaLnBrk="0">
                        <a:lnSpc>
                          <a:spcPts val="1775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split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277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tag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4044" algn="l" rtl="0" eaLnBrk="0">
                        <a:lnSpc>
                          <a:spcPts val="1775"/>
                        </a:lnSpc>
                        <a:spcBef>
                          <a:spcPts val="24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7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size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0.2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5950" algn="l" rtl="0" eaLnBrk="0">
                        <a:lnSpc>
                          <a:spcPts val="1452"/>
                        </a:lnSpc>
                        <a:spcBef>
                          <a:spcPts val="10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random</a:t>
                      </a:r>
                      <a:r>
                        <a:rPr sz="1000" kern="0" spc="13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state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3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7504" algn="l" rtl="0" eaLnBrk="0">
                        <a:lnSpc>
                          <a:spcPct val="75000"/>
                        </a:lnSpc>
                        <a:spcBef>
                          <a:spcPts val="195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6000"/>
                        </a:lnSpc>
                        <a:spcBef>
                          <a:spcPts val="51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训练集</a:t>
                      </a:r>
                      <a:r>
                        <a:rPr sz="1000" kern="0" spc="-1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X_train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条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559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测试集</a:t>
                      </a:r>
                      <a:r>
                        <a:rPr sz="1000" kern="0" spc="-2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X_test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条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5000"/>
                        </a:lnSpc>
                        <a:spcBef>
                          <a:spcPts val="382"/>
                        </a:spcBef>
                        <a:tabLst/>
                      </a:pPr>
                      <a:r>
                        <a:rPr sz="1000" i="1" kern="0" spc="1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构建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41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构建</a:t>
                      </a:r>
                      <a:r>
                        <a:rPr sz="1000" kern="0" spc="-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kern="0" spc="-2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流水线管道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...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978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43890" algn="l" rtl="0" eaLnBrk="0">
                        <a:lnSpc>
                          <a:spcPct val="95000"/>
                        </a:lnSpc>
                        <a:spcBef>
                          <a:spcPts val="5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tfidf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tfidf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),</a:t>
                      </a:r>
                      <a:r>
                        <a:rPr sz="1000" kern="0" spc="1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先进行文本的处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43890" algn="l" rtl="0" eaLnBrk="0">
                        <a:lnSpc>
                          <a:spcPts val="1775"/>
                        </a:lnSpc>
                        <a:spcBef>
                          <a:spcPts val="249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nb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MultinomialNB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alpha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r>
                        <a:rPr sz="1000" kern="0" spc="1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之后调用模型进行分类处理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8140" algn="l" rtl="0" eaLnBrk="0">
                        <a:lnSpc>
                          <a:spcPct val="75000"/>
                        </a:lnSpc>
                        <a:spcBef>
                          <a:spcPts val="9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508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99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开始训练模型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8" name="textbox 338"/>
          <p:cNvSpPr/>
          <p:nvPr/>
        </p:nvSpPr>
        <p:spPr>
          <a:xfrm>
            <a:off x="1883096" y="1286451"/>
            <a:ext cx="10541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tabLst>
                <a:tab pos="92075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1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0" name="table 340"/>
          <p:cNvGraphicFramePr>
            <a:graphicFrameLocks noGrp="1"/>
          </p:cNvGraphicFramePr>
          <p:nvPr/>
        </p:nvGraphicFramePr>
        <p:xfrm>
          <a:off x="385571" y="457200"/>
          <a:ext cx="6795134" cy="5222875"/>
        </p:xfrm>
        <a:graphic>
          <a:graphicData uri="http://schemas.openxmlformats.org/drawingml/2006/table">
            <a:tbl>
              <a:tblPr/>
              <a:tblGrid>
                <a:gridCol w="6795134"/>
              </a:tblGrid>
              <a:tr h="5219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995" algn="l" rtl="0" eaLnBrk="0">
                        <a:lnSpc>
                          <a:spcPct val="7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fit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8000"/>
                        </a:lnSpc>
                        <a:spcBef>
                          <a:spcPts val="506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评估模型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0995" algn="l" rtl="0" eaLnBrk="0">
                        <a:lnSpc>
                          <a:spcPct val="95000"/>
                        </a:lnSpc>
                        <a:spcBef>
                          <a:spcPts val="39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评估训练的模型</a:t>
                      </a:r>
                      <a:r>
                        <a:rPr sz="1000" kern="0" spc="-2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979" algn="l" rtl="0" eaLnBrk="0">
                        <a:lnSpc>
                          <a:spcPts val="1667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kern="0" spc="-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ts val="1718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ts val="1405"/>
                        </a:lnSpc>
                        <a:spcBef>
                          <a:spcPts val="10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X_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6000"/>
                        </a:lnSpc>
                        <a:spcBef>
                          <a:spcPts val="4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训练集准确率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-36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.4f</a:t>
                      </a:r>
                      <a:r>
                        <a:rPr sz="1000" kern="0" spc="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559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测试集准确率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accuracy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.4f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7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分类报告</a:t>
                      </a:r>
                      <a:r>
                        <a:rPr sz="1000" kern="0" spc="6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748030" algn="l" rtl="0" eaLnBrk="0">
                        <a:lnSpc>
                          <a:spcPct val="77000"/>
                        </a:lnSpc>
                        <a:spcBef>
                          <a:spcPts val="59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classification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report</a:t>
                      </a:r>
                      <a:r>
                        <a:rPr sz="1000" kern="0" spc="-2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y_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7504" algn="l" rtl="0" eaLnBrk="0">
                        <a:lnSpc>
                          <a:spcPct val="75000"/>
                        </a:lnSpc>
                        <a:spcBef>
                          <a:spcPts val="65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508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保存模型和词袋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0995" algn="l" rtl="0" eaLnBrk="0">
                        <a:lnSpc>
                          <a:spcPct val="95000"/>
                        </a:lnSpc>
                        <a:spcBef>
                          <a:spcPts val="38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保存模型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9884" algn="l" rtl="0" eaLnBrk="0">
                        <a:lnSpc>
                          <a:spcPct val="81000"/>
                        </a:lnSpc>
                        <a:spcBef>
                          <a:spcPts val="49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dump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tfidf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tfidf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pkl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6000"/>
                        </a:lnSpc>
                        <a:spcBef>
                          <a:spcPts val="50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TF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IDF</a:t>
                      </a:r>
                      <a:r>
                        <a:rPr sz="1000" kern="0" spc="-1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向量化器已保存到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目录下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9884" algn="l" rtl="0" eaLnBrk="0">
                        <a:lnSpc>
                          <a:spcPct val="81000"/>
                        </a:lnSpc>
                        <a:spcBef>
                          <a:spcPts val="49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dump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pipeline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sms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classifier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pkl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656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模型已保存在</a:t>
                      </a:r>
                      <a:r>
                        <a:rPr sz="1000" kern="0" spc="-1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目录下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78000"/>
                        </a:lnSpc>
                        <a:spcBef>
                          <a:spcPts val="484"/>
                        </a:spcBef>
                        <a:tabLst/>
                      </a:pPr>
                      <a:r>
                        <a:rPr sz="1000" i="1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end</a:t>
                      </a:r>
                      <a:r>
                        <a:rPr sz="1000" i="1" kern="0" spc="1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</a:t>
                      </a:r>
                      <a:r>
                        <a:rPr sz="1000" i="1" u="sng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</a:t>
                      </a:r>
                      <a:r>
                        <a:rPr sz="1000" i="1" u="sng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5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nb</a:t>
                      </a:r>
                      <a:r>
                        <a:rPr sz="1000" i="1" u="sng" kern="0" spc="20" dirty="0">
                          <a:solidFill>
                            <a:srgbClr val="8C8C8C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139000"/>
                        </a:lnSpc>
                        <a:spcBef>
                          <a:spcPts val="30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__name__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u="sng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u="sng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read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message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tag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content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ct val="77000"/>
                        </a:lnSpc>
                        <a:spcBef>
                          <a:spcPts val="17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nb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tag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2" name="rect 342"/>
          <p:cNvSpPr/>
          <p:nvPr/>
        </p:nvSpPr>
        <p:spPr>
          <a:xfrm>
            <a:off x="1924050" y="8345169"/>
            <a:ext cx="16002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4" name="rect 344"/>
          <p:cNvSpPr/>
          <p:nvPr/>
        </p:nvSpPr>
        <p:spPr>
          <a:xfrm>
            <a:off x="2564129" y="8345169"/>
            <a:ext cx="8001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6" name="rect 346"/>
          <p:cNvSpPr/>
          <p:nvPr/>
        </p:nvSpPr>
        <p:spPr>
          <a:xfrm>
            <a:off x="2644139" y="8345169"/>
            <a:ext cx="48006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8" name="rect 348"/>
          <p:cNvSpPr/>
          <p:nvPr/>
        </p:nvSpPr>
        <p:spPr>
          <a:xfrm>
            <a:off x="3124200" y="8345169"/>
            <a:ext cx="8001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0" name="rect 350"/>
          <p:cNvSpPr/>
          <p:nvPr/>
        </p:nvSpPr>
        <p:spPr>
          <a:xfrm>
            <a:off x="2084070" y="8345169"/>
            <a:ext cx="48006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52" name="table 352"/>
          <p:cNvGraphicFramePr>
            <a:graphicFrameLocks noGrp="1"/>
          </p:cNvGraphicFramePr>
          <p:nvPr/>
        </p:nvGraphicFramePr>
        <p:xfrm>
          <a:off x="385571" y="5937884"/>
          <a:ext cx="6795134" cy="4177665"/>
        </p:xfrm>
        <a:graphic>
          <a:graphicData uri="http://schemas.openxmlformats.org/drawingml/2006/table">
            <a:tbl>
              <a:tblPr/>
              <a:tblGrid>
                <a:gridCol w="6795134"/>
              </a:tblGrid>
              <a:tr h="41744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510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加载停用词表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930" algn="l" rtl="0" eaLnBrk="0">
                        <a:lnSpc>
                          <a:spcPts val="1667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with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open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txt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"r"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encoding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utf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-8"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5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stop_words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.read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().split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ct val="81000"/>
                        </a:lnSpc>
                        <a:spcBef>
                          <a:spcPts val="13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append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5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\n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501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用户词典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83185" algn="l" rtl="0" eaLnBrk="0">
                        <a:lnSpc>
                          <a:spcPct val="81000"/>
                        </a:lnSpc>
                        <a:spcBef>
                          <a:spcPts val="45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userdict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user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dict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txt</a:t>
                      </a:r>
                      <a:r>
                        <a:rPr sz="1000" kern="0" spc="1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6000"/>
                        </a:lnSpc>
                        <a:spcBef>
                          <a:spcPts val="30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9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chinese</a:t>
                      </a:r>
                      <a:r>
                        <a:rPr sz="1000" kern="0" spc="1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cut</a:t>
                      </a:r>
                      <a:r>
                        <a:rPr sz="1000" kern="0" spc="-28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950594" algn="l" rtl="0" eaLnBrk="0">
                        <a:lnSpc>
                          <a:spcPts val="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 </a:t>
                      </a:r>
                      <a:r>
                        <a:rPr sz="1000" kern="0" spc="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ts val="1718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.sub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-3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[^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\u4e00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\u9fa5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1629" algn="l" rtl="0" eaLnBrk="0">
                        <a:lnSpc>
                          <a:spcPts val="1405"/>
                        </a:lnSpc>
                        <a:spcBef>
                          <a:spcPts val="10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jieba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lcut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8615" indent="-6985" algn="l" rtl="0" eaLnBrk="0">
                        <a:lnSpc>
                          <a:spcPct val="114000"/>
                        </a:lnSpc>
                        <a:spcBef>
                          <a:spcPts val="2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stop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and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wd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)&gt;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            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words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78000"/>
                        </a:lnSpc>
                        <a:spcBef>
                          <a:spcPts val="629"/>
                        </a:spcBef>
                        <a:tabLst/>
                      </a:pP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end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chines</a:t>
                      </a:r>
                      <a:r>
                        <a:rPr sz="1000" i="1" u="sng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</a:t>
                      </a:r>
                      <a:r>
                        <a:rPr sz="1000" i="1" u="sng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4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i="1" u="sng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4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cut</a:t>
                      </a:r>
                      <a:r>
                        <a:rPr sz="1000" i="1" kern="0" spc="-2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(text)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0000"/>
                        </a:lnSpc>
                        <a:spcBef>
                          <a:spcPts val="30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5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msg</a:t>
                      </a:r>
                      <a:r>
                        <a:rPr sz="1000" kern="0" spc="11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-28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ct val="71000"/>
                        </a:lnSpc>
                        <a:spcBef>
                          <a:spcPts val="670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try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934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4" name="textbox 354"/>
          <p:cNvSpPr/>
          <p:nvPr/>
        </p:nvSpPr>
        <p:spPr>
          <a:xfrm>
            <a:off x="452272" y="5719851"/>
            <a:ext cx="932180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分类模型预测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1084560" y="9662982"/>
            <a:ext cx="105410" cy="26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"/>
              </a:lnSpc>
              <a:tabLst/>
            </a:pPr>
            <a:r>
              <a:rPr sz="1000" kern="0" spc="10" dirty="0">
                <a:solidFill>
                  <a:srgbClr val="00627A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" name="table 358"/>
          <p:cNvGraphicFramePr>
            <a:graphicFrameLocks noGrp="1"/>
          </p:cNvGraphicFramePr>
          <p:nvPr/>
        </p:nvGraphicFramePr>
        <p:xfrm>
          <a:off x="385571" y="457200"/>
          <a:ext cx="6795134" cy="6807834"/>
        </p:xfrm>
        <a:graphic>
          <a:graphicData uri="http://schemas.openxmlformats.org/drawingml/2006/table">
            <a:tbl>
              <a:tblPr/>
              <a:tblGrid>
                <a:gridCol w="6795134"/>
              </a:tblGrid>
              <a:tr h="6804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59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5790" algn="l" rtl="0" eaLnBrk="0">
                        <a:lnSpc>
                          <a:spcPts val="1775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joblib</a:t>
                      </a:r>
                      <a:r>
                        <a:rPr sz="1000" kern="0" spc="-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load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sms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classifier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pkl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2934" algn="l" rtl="0" eaLnBrk="0">
                        <a:lnSpc>
                          <a:spcPct val="99000"/>
                        </a:lnSpc>
                        <a:spcBef>
                          <a:spcPts val="47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进行预测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07694" algn="l" rtl="0" eaLnBrk="0">
                        <a:lnSpc>
                          <a:spcPts val="1667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.predict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ext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])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7694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model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</a:t>
                      </a:r>
                      <a:r>
                        <a:rPr sz="1000" kern="0" spc="-2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])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2934" algn="l" rtl="0" eaLnBrk="0">
                        <a:lnSpc>
                          <a:spcPct val="99000"/>
                        </a:lnSpc>
                        <a:spcBef>
                          <a:spcPts val="47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返回结果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15950" algn="l" rtl="0" eaLnBrk="0">
                        <a:lnSpc>
                          <a:spcPts val="1775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902335" algn="l" rtl="0" eaLnBrk="0">
                        <a:lnSpc>
                          <a:spcPct val="75000"/>
                        </a:lnSpc>
                        <a:spcBef>
                          <a:spcPts val="196"/>
                        </a:spcBef>
                        <a:tabLst/>
                      </a:pP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'text</a:t>
                      </a:r>
                      <a:r>
                        <a:rPr sz="1000" kern="0" spc="-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902335" algn="l" rtl="0" eaLnBrk="0">
                        <a:lnSpc>
                          <a:spcPct val="76000"/>
                        </a:lnSpc>
                        <a:spcBef>
                          <a:spcPts val="650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kern="0" spc="-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prediction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902335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'probability</a:t>
                      </a:r>
                      <a:r>
                        <a:rPr sz="1000" kern="0" spc="-30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69035" algn="l" rtl="0" eaLnBrk="0">
                        <a:lnSpc>
                          <a:spcPct val="91000"/>
                        </a:lnSpc>
                        <a:spcBef>
                          <a:spcPts val="51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诈骗概率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round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</a:t>
                      </a:r>
                      <a:r>
                        <a:rPr sz="10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*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69035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非诈骗概率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roun</a:t>
                      </a:r>
                      <a:r>
                        <a:rPr sz="1000" kern="0" spc="-2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proba</a:t>
                      </a:r>
                      <a:r>
                        <a:rPr sz="1000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*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100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7255" algn="l" rtl="0" eaLnBrk="0">
                        <a:lnSpc>
                          <a:spcPct val="75000"/>
                        </a:lnSpc>
                        <a:spcBef>
                          <a:spcPts val="61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30555" algn="l" rtl="0" eaLnBrk="0">
                        <a:lnSpc>
                          <a:spcPct val="75000"/>
                        </a:lnSpc>
                        <a:spcBef>
                          <a:spcPts val="660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5950" algn="l" rtl="0" eaLnBrk="0">
                        <a:lnSpc>
                          <a:spcPct val="74000"/>
                        </a:lnSpc>
                        <a:spcBef>
                          <a:spcPts val="667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15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ct val="76000"/>
                        </a:lnSpc>
                        <a:spcBef>
                          <a:spcPts val="655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except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Exception</a:t>
                      </a:r>
                      <a:r>
                        <a:rPr sz="1000" kern="0" spc="1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5950" algn="l" rtl="0" eaLnBrk="0">
                        <a:lnSpc>
                          <a:spcPct val="75000"/>
                        </a:lnSpc>
                        <a:spcBef>
                          <a:spcPts val="658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2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'error</a:t>
                      </a:r>
                      <a:r>
                        <a:rPr sz="1000" kern="0" spc="-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str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)}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139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__name__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u="sng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u="sng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messages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1665" algn="l" rtl="0" eaLnBrk="0">
                        <a:lnSpc>
                          <a:spcPct val="95000"/>
                        </a:lnSpc>
                        <a:spcBef>
                          <a:spcPts val="5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航旅纵横：您预订的</a:t>
                      </a:r>
                      <a:r>
                        <a:rPr sz="1000" kern="0" spc="-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9C8888</a:t>
                      </a:r>
                      <a:r>
                        <a:rPr sz="1000" kern="0" spc="-2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航班值机已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开放，可手机选座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1665" algn="l" rtl="0" eaLnBrk="0">
                        <a:lnSpc>
                          <a:spcPct val="95000"/>
                        </a:lnSpc>
                        <a:spcBef>
                          <a:spcPts val="42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【共享屏幕】您的银行</a:t>
                      </a:r>
                      <a:r>
                        <a:rPr sz="1000" kern="0" spc="-2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APP</a:t>
                      </a:r>
                      <a:r>
                        <a:rPr sz="1000" kern="0" spc="-2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操作被录屏！转账</a:t>
                      </a:r>
                      <a:r>
                        <a:rPr sz="1000" kern="0" spc="-1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万元删除记录：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http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://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screen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hack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net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1665" algn="l" rtl="0" eaLnBrk="0">
                        <a:lnSpc>
                          <a:spcPct val="87000"/>
                        </a:lnSpc>
                        <a:spcBef>
                          <a:spcPts val="421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恭喜您获得大奖，点击链接领取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1665" algn="l" rtl="0" eaLnBrk="0">
                        <a:lnSpc>
                          <a:spcPts val="1554"/>
                        </a:lnSpc>
                        <a:tabLst/>
                      </a:pP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您的快递已到达小区快递柜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8140" algn="l" rtl="0" eaLnBrk="0">
                        <a:lnSpc>
                          <a:spcPct val="75000"/>
                        </a:lnSpc>
                        <a:spcBef>
                          <a:spcPts val="662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1790" algn="l" rtl="0" eaLnBrk="0">
                        <a:lnSpc>
                          <a:spcPct val="77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msg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test_messages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5950" algn="l" rtl="0" eaLnBrk="0">
                        <a:lnSpc>
                          <a:spcPts val="1775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scam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msg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predict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msg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7694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文本</a:t>
                      </a:r>
                      <a:r>
                        <a:rPr sz="1000" kern="0" spc="-2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'text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7694" algn="l" rtl="0" eaLnBrk="0">
                        <a:lnSpc>
                          <a:spcPct val="95000"/>
                        </a:lnSpc>
                        <a:spcBef>
                          <a:spcPts val="42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预测结果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'prediction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7694" algn="l" rtl="0" eaLnBrk="0">
                        <a:lnSpc>
                          <a:spcPct val="91000"/>
                        </a:lnSpc>
                        <a:spcBef>
                          <a:spcPts val="417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概率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诈骗</a:t>
                      </a:r>
                      <a:r>
                        <a:rPr sz="1000" kern="0" spc="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'probab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ility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诈骗概率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%,</a:t>
                      </a:r>
                      <a:r>
                        <a:rPr sz="1000" kern="0" spc="1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017905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非诈骗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'probability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非诈骗概率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2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%"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7694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22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"-"</a:t>
                      </a:r>
                      <a:r>
                        <a:rPr sz="1000" kern="0" spc="1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*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50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0" name="textbox 360"/>
          <p:cNvSpPr/>
          <p:nvPr/>
        </p:nvSpPr>
        <p:spPr>
          <a:xfrm>
            <a:off x="457073" y="7335367"/>
            <a:ext cx="6659244" cy="1219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ts val="2055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三、情感数据分析与标注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228"/>
              </a:spcBef>
              <a:tabLst/>
            </a:pP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2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</a:t>
            </a:r>
            <a:r>
              <a:rPr sz="1500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情感分析原理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0320" indent="290829" algn="l" rtl="0" eaLnBrk="0">
              <a:lnSpc>
                <a:spcPct val="129000"/>
              </a:lnSpc>
              <a:spcBef>
                <a:spcPts val="6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情感分析（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Sentiment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Analysis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）是自然语言处理（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NLP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）的一个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重要分支，旨在识别和提取文本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中的主观信息，判断作者的情感倾向。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362" name="table 362"/>
          <p:cNvGraphicFramePr>
            <a:graphicFrameLocks noGrp="1"/>
          </p:cNvGraphicFramePr>
          <p:nvPr/>
        </p:nvGraphicFramePr>
        <p:xfrm>
          <a:off x="671702" y="8572119"/>
          <a:ext cx="6204584" cy="1178560"/>
        </p:xfrm>
        <a:graphic>
          <a:graphicData uri="http://schemas.openxmlformats.org/drawingml/2006/table">
            <a:tbl>
              <a:tblPr/>
              <a:tblGrid>
                <a:gridCol w="6204584"/>
              </a:tblGrid>
              <a:tr h="1172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64" name="picture 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1227" y="8581643"/>
            <a:ext cx="6185915" cy="1159764"/>
          </a:xfrm>
          <a:prstGeom prst="rect">
            <a:avLst/>
          </a:prstGeom>
        </p:spPr>
      </p:pic>
      <p:sp>
        <p:nvSpPr>
          <p:cNvPr id="366" name="textbox 366"/>
          <p:cNvSpPr/>
          <p:nvPr/>
        </p:nvSpPr>
        <p:spPr>
          <a:xfrm>
            <a:off x="457073" y="9852214"/>
            <a:ext cx="2545714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28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情感分析的应用场景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picture 3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71702" y="5255894"/>
            <a:ext cx="6211061" cy="2681478"/>
          </a:xfrm>
          <a:prstGeom prst="rect">
            <a:avLst/>
          </a:prstGeom>
        </p:spPr>
      </p:pic>
      <p:graphicFrame>
        <p:nvGraphicFramePr>
          <p:cNvPr id="370" name="table 370"/>
          <p:cNvGraphicFramePr>
            <a:graphicFrameLocks noGrp="1"/>
          </p:cNvGraphicFramePr>
          <p:nvPr/>
        </p:nvGraphicFramePr>
        <p:xfrm>
          <a:off x="679323" y="2209418"/>
          <a:ext cx="6201409" cy="2228850"/>
        </p:xfrm>
        <a:graphic>
          <a:graphicData uri="http://schemas.openxmlformats.org/drawingml/2006/table">
            <a:tbl>
              <a:tblPr/>
              <a:tblGrid>
                <a:gridCol w="6201409"/>
              </a:tblGrid>
              <a:tr h="2222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72" name="picture 3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8848" y="2218943"/>
            <a:ext cx="6182868" cy="2209800"/>
          </a:xfrm>
          <a:prstGeom prst="rect">
            <a:avLst/>
          </a:prstGeom>
        </p:spPr>
      </p:pic>
      <p:sp>
        <p:nvSpPr>
          <p:cNvPr id="374" name="textbox 374"/>
          <p:cNvSpPr/>
          <p:nvPr/>
        </p:nvSpPr>
        <p:spPr>
          <a:xfrm>
            <a:off x="449833" y="7986039"/>
            <a:ext cx="6666865" cy="1229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83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实战案例：基于SnowNLP</a:t>
            </a:r>
            <a:r>
              <a:rPr sz="1200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的自动情感标注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ts val="2027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任务目标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6509" indent="302895" algn="l" rtl="0" eaLnBrk="0">
              <a:lnSpc>
                <a:spcPct val="133000"/>
              </a:lnSpc>
              <a:spcBef>
                <a:spcPts val="387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构建一个基于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SnowNLP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的自动化情感分析系统，对网购评论数据进行情感标注和分类，实现从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原始文本到结构化情感标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签的完整处理流程。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21309" algn="l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实现代码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376" name="table 376"/>
          <p:cNvGraphicFramePr>
            <a:graphicFrameLocks noGrp="1"/>
          </p:cNvGraphicFramePr>
          <p:nvPr/>
        </p:nvGraphicFramePr>
        <p:xfrm>
          <a:off x="385571" y="9234169"/>
          <a:ext cx="6800215" cy="809625"/>
        </p:xfrm>
        <a:graphic>
          <a:graphicData uri="http://schemas.openxmlformats.org/drawingml/2006/table">
            <a:tbl>
              <a:tblPr/>
              <a:tblGrid>
                <a:gridCol w="6800215"/>
              </a:tblGrid>
              <a:tr h="806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time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snownlp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</a:t>
                      </a: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rt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SnowNLP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8" name="textbox 378"/>
          <p:cNvSpPr/>
          <p:nvPr/>
        </p:nvSpPr>
        <p:spPr>
          <a:xfrm>
            <a:off x="457073" y="491159"/>
            <a:ext cx="2117725" cy="1589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ts val="1495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产品评论分析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ts val="1491"/>
              </a:lnSpc>
              <a:spcBef>
                <a:spcPts val="532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社交媒体监控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ts val="1500"/>
              </a:lnSpc>
              <a:spcBef>
                <a:spcPts val="537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客户反馈处理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ts val="1495"/>
              </a:lnSpc>
              <a:spcBef>
                <a:spcPts val="528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市场趋势分析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17500" algn="l" rtl="0" eaLnBrk="0">
              <a:lnSpc>
                <a:spcPts val="1500"/>
              </a:lnSpc>
              <a:spcBef>
                <a:spcPts val="532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200" kern="0" spc="-2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舆情监测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SnowNLP</a:t>
            </a:r>
            <a:r>
              <a:rPr sz="1500" kern="0" spc="-3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库介绍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80" name="rect 380"/>
          <p:cNvSpPr/>
          <p:nvPr/>
        </p:nvSpPr>
        <p:spPr>
          <a:xfrm>
            <a:off x="1487169" y="4548504"/>
            <a:ext cx="5333999" cy="197484"/>
          </a:xfrm>
          <a:prstGeom prst="rect">
            <a:avLst/>
          </a:prstGeom>
          <a:solidFill>
            <a:srgbClr val="E7F3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2" name="rect 382"/>
          <p:cNvSpPr/>
          <p:nvPr/>
        </p:nvSpPr>
        <p:spPr>
          <a:xfrm>
            <a:off x="915669" y="4548504"/>
            <a:ext cx="571500" cy="197484"/>
          </a:xfrm>
          <a:prstGeom prst="rect">
            <a:avLst/>
          </a:prstGeom>
          <a:solidFill>
            <a:srgbClr val="E7F3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4" name="rect 384"/>
          <p:cNvSpPr/>
          <p:nvPr/>
        </p:nvSpPr>
        <p:spPr>
          <a:xfrm>
            <a:off x="457200" y="4548504"/>
            <a:ext cx="458469" cy="197484"/>
          </a:xfrm>
          <a:prstGeom prst="rect">
            <a:avLst/>
          </a:prstGeom>
          <a:solidFill>
            <a:srgbClr val="E7F3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6" name="textbox 386"/>
          <p:cNvSpPr/>
          <p:nvPr/>
        </p:nvSpPr>
        <p:spPr>
          <a:xfrm>
            <a:off x="451053" y="4558563"/>
            <a:ext cx="6383020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200" b="1" kern="0" spc="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提示：</a:t>
            </a:r>
            <a:r>
              <a:rPr sz="1200" kern="0" spc="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SnowNLP</a:t>
            </a:r>
            <a:r>
              <a:rPr sz="1200" kern="0" spc="-16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的情感分析模型是基于商品评</a:t>
            </a:r>
            <a:r>
              <a:rPr sz="1200" kern="0" spc="-10" dirty="0">
                <a:solidFill>
                  <a:srgbClr val="333333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论数据训练的，因此在分析商品评论时效果最佳。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99415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500" kern="0" spc="-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6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</a:t>
            </a:r>
            <a:r>
              <a:rPr sz="1500" kern="0" spc="-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SnowNLP</a:t>
            </a:r>
            <a:r>
              <a:rPr sz="1500" kern="0" spc="-3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基本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表用法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 388"/>
          <p:cNvSpPr/>
          <p:nvPr/>
        </p:nvSpPr>
        <p:spPr>
          <a:xfrm>
            <a:off x="3124200" y="685165"/>
            <a:ext cx="480059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0" name="rect 390"/>
          <p:cNvSpPr/>
          <p:nvPr/>
        </p:nvSpPr>
        <p:spPr>
          <a:xfrm>
            <a:off x="2564129" y="685165"/>
            <a:ext cx="48006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2" name="rect 392"/>
          <p:cNvSpPr/>
          <p:nvPr/>
        </p:nvSpPr>
        <p:spPr>
          <a:xfrm>
            <a:off x="3044189" y="685165"/>
            <a:ext cx="8001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4" name="rect 394"/>
          <p:cNvSpPr/>
          <p:nvPr/>
        </p:nvSpPr>
        <p:spPr>
          <a:xfrm>
            <a:off x="2404110" y="685165"/>
            <a:ext cx="160020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6" name="rect 396"/>
          <p:cNvSpPr/>
          <p:nvPr/>
        </p:nvSpPr>
        <p:spPr>
          <a:xfrm>
            <a:off x="3604259" y="685165"/>
            <a:ext cx="80009" cy="150494"/>
          </a:xfrm>
          <a:prstGeom prst="rect">
            <a:avLst/>
          </a:prstGeom>
          <a:solidFill>
            <a:srgbClr val="EDFC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98" name="table 398"/>
          <p:cNvGraphicFramePr>
            <a:graphicFrameLocks noGrp="1"/>
          </p:cNvGraphicFramePr>
          <p:nvPr/>
        </p:nvGraphicFramePr>
        <p:xfrm>
          <a:off x="385571" y="457200"/>
          <a:ext cx="6800215" cy="4787265"/>
        </p:xfrm>
        <a:graphic>
          <a:graphicData uri="http://schemas.openxmlformats.org/drawingml/2006/table">
            <a:tbl>
              <a:tblPr/>
              <a:tblGrid>
                <a:gridCol w="6800215"/>
              </a:tblGrid>
              <a:tr h="47840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analyze</a:t>
                      </a:r>
                      <a:r>
                        <a:rPr sz="1000" kern="0" spc="13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sentiment</a:t>
                      </a:r>
                      <a:r>
                        <a:rPr sz="1000" kern="0" spc="-30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9250" algn="l" rtl="0" eaLnBrk="0">
                        <a:lnSpc>
                          <a:spcPts val="1667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clean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sub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-3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[^</a:t>
                      </a:r>
                      <a:r>
                        <a:rPr sz="1000" kern="0" spc="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\u4e00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\u9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</a:t>
                      </a:r>
                      <a:r>
                        <a:rPr sz="1000" kern="0" spc="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154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SnowNLP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clean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7820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</a:t>
                      </a:r>
                      <a:r>
                        <a:rPr sz="10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sentiments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0520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&lt;=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0.3</a:t>
                      </a:r>
                      <a:r>
                        <a:rPr sz="1000" kern="0" spc="-35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5950" algn="l" rtl="0" eaLnBrk="0">
                        <a:lnSpc>
                          <a:spcPct val="87000"/>
                        </a:lnSpc>
                        <a:spcBef>
                          <a:spcPts val="4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3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消极情感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202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elif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&lt;=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0.7</a:t>
                      </a:r>
                      <a:r>
                        <a:rPr sz="1000" kern="0" spc="-36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5950" algn="l" rtl="0" eaLnBrk="0">
                        <a:lnSpc>
                          <a:spcPts val="1235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3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中性情感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ct val="74000"/>
                        </a:lnSpc>
                        <a:spcBef>
                          <a:spcPts val="52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else</a:t>
                      </a:r>
                      <a:r>
                        <a:rPr sz="1000" kern="0" spc="-3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5950" algn="l" rtl="0" eaLnBrk="0">
                        <a:lnSpc>
                          <a:spcPct val="99000"/>
                        </a:lnSpc>
                        <a:spcBef>
                          <a:spcPts val="51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3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积极情感</a:t>
                      </a:r>
                      <a:r>
                        <a:rPr sz="1000" kern="0" spc="-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79000"/>
                        </a:lnSpc>
                        <a:spcBef>
                          <a:spcPts val="479"/>
                        </a:spcBef>
                        <a:tabLst/>
                      </a:pP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end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analyze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sentiment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145000"/>
                        </a:lnSpc>
                        <a:spcBef>
                          <a:spcPts val="30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__name__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u="sng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u="sng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9000"/>
                        </a:lnSpc>
                        <a:spcBef>
                          <a:spcPts val="3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加载数据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1775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read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comment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情感数据标注中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1775"/>
                        </a:lnSpc>
                        <a:spcBef>
                          <a:spcPts val="15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loc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[:,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sentiment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category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comment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apply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lambda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0644" algn="l" rtl="0" eaLnBrk="0">
                        <a:lnSpc>
                          <a:spcPct val="77000"/>
                        </a:lnSpc>
                        <a:spcBef>
                          <a:spcPts val="17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analyze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sentiment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text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7345" algn="l" rtl="0" eaLnBrk="0">
                        <a:lnSpc>
                          <a:spcPct val="76000"/>
                        </a:lnSpc>
                        <a:spcBef>
                          <a:spcPts val="644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time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.sleep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5000"/>
                        </a:lnSpc>
                        <a:spcBef>
                          <a:spcPts val="51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数据文件标注完成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正在保存中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.."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ct val="81000"/>
                        </a:lnSpc>
                        <a:spcBef>
                          <a:spcPts val="49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to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comment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tag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csv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023619" algn="l" rtl="0" eaLnBrk="0">
                        <a:lnSpc>
                          <a:spcPts val="1667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encoding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utf</a:t>
                      </a:r>
                      <a:r>
                        <a:rPr sz="1000" kern="0" spc="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-8"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023619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header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True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023619" algn="l" rtl="0" eaLnBrk="0">
                        <a:lnSpc>
                          <a:spcPts val="1614"/>
                        </a:lnSpc>
                        <a:tabLst/>
                      </a:pP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index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00" name="picture 4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50822" y="6849998"/>
            <a:ext cx="5058917" cy="2846070"/>
          </a:xfrm>
          <a:prstGeom prst="rect">
            <a:avLst/>
          </a:prstGeom>
        </p:spPr>
      </p:pic>
      <p:sp>
        <p:nvSpPr>
          <p:cNvPr id="402" name="textbox 402"/>
          <p:cNvSpPr/>
          <p:nvPr/>
        </p:nvSpPr>
        <p:spPr>
          <a:xfrm>
            <a:off x="449833" y="5296255"/>
            <a:ext cx="6717665" cy="143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100000"/>
              </a:lnSpc>
              <a:tabLst/>
            </a:pP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四、聚类分析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indent="311150" algn="l" rtl="0" eaLnBrk="0">
              <a:lnSpc>
                <a:spcPct val="135000"/>
              </a:lnSpc>
              <a:spcBef>
                <a:spcPts val="420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聚类分析是一种无监督学习方法，旨在将数据集中的对象分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组，使得同一组（即簇）内的对象相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似度较高，而不同组之间的对象相似度较低。与监督学习不同的是，非监督学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习技术不使用带标签的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数据，算法需要自己去发现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数据中的结构。常见的聚类算法包括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K-means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、层次聚类、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DBSCAN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等。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25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聚类算法的处</a:t>
            </a: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理流程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404" name="textbox 404"/>
          <p:cNvSpPr/>
          <p:nvPr/>
        </p:nvSpPr>
        <p:spPr>
          <a:xfrm>
            <a:off x="457073" y="9852214"/>
            <a:ext cx="2545714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28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聚类算法的评测指标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ath 406"/>
          <p:cNvSpPr/>
          <p:nvPr/>
        </p:nvSpPr>
        <p:spPr>
          <a:xfrm>
            <a:off x="162814" y="1717675"/>
            <a:ext cx="1201674" cy="6095"/>
          </a:xfrm>
          <a:custGeom>
            <a:avLst/>
            <a:gdLst/>
            <a:ahLst/>
            <a:cxnLst/>
            <a:rect l="0" t="0" r="0" b="0"/>
            <a:pathLst>
              <a:path w="1892" h="9">
                <a:moveTo>
                  <a:pt x="0" y="4"/>
                </a:moveTo>
                <a:lnTo>
                  <a:pt x="1892" y="4"/>
                </a:lnTo>
              </a:path>
            </a:pathLst>
          </a:custGeom>
          <a:noFill/>
          <a:ln w="6096" cap="flat">
            <a:solidFill>
              <a:srgbClr val="4874CB"/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08" name="table 408"/>
          <p:cNvGraphicFramePr>
            <a:graphicFrameLocks noGrp="1"/>
          </p:cNvGraphicFramePr>
          <p:nvPr/>
        </p:nvGraphicFramePr>
        <p:xfrm>
          <a:off x="134493" y="457200"/>
          <a:ext cx="7201534" cy="4489450"/>
        </p:xfrm>
        <a:graphic>
          <a:graphicData uri="http://schemas.openxmlformats.org/drawingml/2006/table">
            <a:tbl>
              <a:tblPr/>
              <a:tblGrid>
                <a:gridCol w="1231264"/>
                <a:gridCol w="2074545"/>
                <a:gridCol w="2516505"/>
                <a:gridCol w="751205"/>
                <a:gridCol w="628015"/>
              </a:tblGrid>
              <a:tr h="5422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2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指标名称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ECE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指标含义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5039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使用方法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2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参数含义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indent="-154304" algn="l" rtl="0" eaLnBrk="0">
                        <a:lnSpc>
                          <a:spcPct val="10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适用算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法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1"/>
                    </a:solidFill>
                  </a:tcPr>
                </a:tc>
              </a:tr>
              <a:tr h="7277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5759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轮廓系数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336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Silhouette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衡量样本与自身簇的紧密度和与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7310" algn="l" rtl="0" eaLnBrk="0">
                        <a:lnSpc>
                          <a:spcPct val="97000"/>
                        </a:lnSpc>
                        <a:spcBef>
                          <a:spcPts val="384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其他簇的分离度，取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值[-1,1]，越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675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接近</a:t>
                      </a:r>
                      <a:r>
                        <a:rPr sz="10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r>
                        <a:rPr sz="10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越好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silhouette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score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(X,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labels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9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9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X:原始数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2864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据数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indent="7620" algn="l" rtl="0" eaLnBrk="0">
                        <a:lnSpc>
                          <a:spcPct val="12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labels</a:t>
                      </a: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:聚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类结果标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签数组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89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通用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8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CH</a:t>
                      </a:r>
                      <a:r>
                        <a:rPr sz="10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6755" indent="-640080" algn="l" rtl="0" eaLnBrk="0">
                        <a:lnSpc>
                          <a:spcPct val="12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簇间离散度与簇内离散度的比值，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值越大越好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calinski</a:t>
                      </a:r>
                      <a:r>
                        <a:rPr sz="1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harabasz</a:t>
                      </a:r>
                      <a:r>
                        <a:rPr sz="1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score</a:t>
                      </a:r>
                      <a:r>
                        <a:rPr sz="1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(X,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labels</a:t>
                      </a:r>
                      <a:r>
                        <a:rPr sz="1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11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DB</a:t>
                      </a:r>
                      <a:r>
                        <a:rPr sz="10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4550" indent="-777240" algn="l" rtl="0" eaLnBrk="0">
                        <a:lnSpc>
                          <a:spcPct val="12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衡量各簇之间的平均相似度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，值越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小越好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davies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bouldin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score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(X,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labels</a:t>
                      </a:r>
                      <a:r>
                        <a:rPr sz="1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9709" indent="91439" algn="l" rtl="0" eaLnBrk="0">
                        <a:lnSpc>
                          <a:spcPct val="120000"/>
                        </a:lnSpc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同质性评分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  </a:t>
                      </a: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Homogeneity</a:t>
                      </a: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需要真实标签，衡量同类样本的聚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90169" algn="l" rtl="0" eaLnBrk="0">
                        <a:lnSpc>
                          <a:spcPct val="97000"/>
                        </a:lnSpc>
                        <a:spcBef>
                          <a:spcPts val="384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集程度，取值[0,1]，1</a:t>
                      </a:r>
                      <a:r>
                        <a:rPr sz="10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表示完全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08685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一致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indent="-8889" algn="l" rtl="0" eaLnBrk="0">
                        <a:lnSpc>
                          <a:spcPct val="122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homogeneit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y_score(true_labels,pred_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labels</a:t>
                      </a:r>
                      <a:r>
                        <a:rPr sz="10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675" algn="l" rtl="0" eaLnBrk="0">
                        <a:lnSpc>
                          <a:spcPct val="124000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true_labe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ls：数据真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实标签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3500" indent="-1905" algn="l" rtl="0" eaLnBrk="0">
                        <a:lnSpc>
                          <a:spcPct val="124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pred_labe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ls：数据预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测标签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indent="-5080" algn="l" rtl="0" eaLnBrk="0">
                        <a:lnSpc>
                          <a:spcPct val="122000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有标签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时通用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67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0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调整兰德指数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31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(ARI)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需要真实标签，衡量聚类结果与真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0485" algn="l" rtl="0" eaLnBrk="0">
                        <a:lnSpc>
                          <a:spcPct val="97000"/>
                        </a:lnSpc>
                        <a:spcBef>
                          <a:spcPts val="380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实标签的相似度，取值[-1,1]，1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9444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表示完全一致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indent="-1905" algn="l" rtl="0" eaLnBrk="0">
                        <a:lnSpc>
                          <a:spcPct val="12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adjusted_</a:t>
                      </a:r>
                      <a:r>
                        <a:rPr sz="10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rand_score(true_labels,pre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labels</a:t>
                      </a:r>
                      <a:r>
                        <a:rPr sz="10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67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4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854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归一化互信息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31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(NMI)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衡量聚类结果与真实标签的信息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6675" algn="l" rtl="0" eaLnBrk="0">
                        <a:lnSpc>
                          <a:spcPct val="99000"/>
                        </a:lnSpc>
                        <a:spcBef>
                          <a:spcPts val="372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共享程度（需要真实标签</a:t>
                      </a:r>
                      <a:r>
                        <a:rPr sz="10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），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取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19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[0,1]，1</a:t>
                      </a:r>
                      <a:r>
                        <a:rPr sz="10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表示完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全一致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4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normalized</a:t>
                      </a:r>
                      <a:r>
                        <a:rPr sz="1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mutual</a:t>
                      </a:r>
                      <a:r>
                        <a:rPr sz="1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info</a:t>
                      </a:r>
                      <a:r>
                        <a:rPr sz="1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score</a:t>
                      </a:r>
                      <a:r>
                        <a:rPr sz="1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(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true</a:t>
                      </a:r>
                      <a:r>
                        <a:rPr sz="1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_l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9305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abels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,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labels</a:t>
                      </a:r>
                      <a:r>
                        <a:rPr sz="10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)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67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674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10" name="table 410"/>
          <p:cNvGraphicFramePr>
            <a:graphicFrameLocks noGrp="1"/>
          </p:cNvGraphicFramePr>
          <p:nvPr/>
        </p:nvGraphicFramePr>
        <p:xfrm>
          <a:off x="511683" y="6208394"/>
          <a:ext cx="6526529" cy="3583304"/>
        </p:xfrm>
        <a:graphic>
          <a:graphicData uri="http://schemas.openxmlformats.org/drawingml/2006/table">
            <a:tbl>
              <a:tblPr/>
              <a:tblGrid>
                <a:gridCol w="2173604"/>
                <a:gridCol w="4352925"/>
              </a:tblGrid>
              <a:tr h="35833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12" name="picture 4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700527" y="6217920"/>
            <a:ext cx="4328159" cy="3564635"/>
          </a:xfrm>
          <a:prstGeom prst="rect">
            <a:avLst/>
          </a:prstGeom>
        </p:spPr>
      </p:pic>
      <p:pic>
        <p:nvPicPr>
          <p:cNvPr id="414" name="picture 4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1208" y="6217920"/>
            <a:ext cx="2153411" cy="3564635"/>
          </a:xfrm>
          <a:prstGeom prst="rect">
            <a:avLst/>
          </a:prstGeom>
        </p:spPr>
      </p:pic>
      <p:sp>
        <p:nvSpPr>
          <p:cNvPr id="416" name="textbox 416"/>
          <p:cNvSpPr/>
          <p:nvPr/>
        </p:nvSpPr>
        <p:spPr>
          <a:xfrm>
            <a:off x="450443" y="5047043"/>
            <a:ext cx="6666230" cy="1060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5000"/>
              </a:lnSpc>
              <a:tabLst/>
            </a:pP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27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1500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3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划分聚类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indent="300990" algn="l" rtl="0" eaLnBrk="0">
              <a:lnSpc>
                <a:spcPct val="135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K-means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算法是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一种常用的聚类算法，其基本思想是使用迭代细化方法，基于用户定义的集群数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量（由变量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表示）和数据集来产生其最终聚类。例如，如果将</a:t>
            </a:r>
            <a:r>
              <a:rPr sz="1200" kern="0" spc="-2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设置为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，则数据集将分组为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个群集，如果将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设置为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，则将数据分组为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个群集，依此类推。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418" name="path 418"/>
          <p:cNvSpPr/>
          <p:nvPr/>
        </p:nvSpPr>
        <p:spPr>
          <a:xfrm>
            <a:off x="3438652" y="1717675"/>
            <a:ext cx="2513710" cy="6095"/>
          </a:xfrm>
          <a:custGeom>
            <a:avLst/>
            <a:gdLst/>
            <a:ahLst/>
            <a:cxnLst/>
            <a:rect l="0" t="0" r="0" b="0"/>
            <a:pathLst>
              <a:path w="3958" h="9">
                <a:moveTo>
                  <a:pt x="0" y="4"/>
                </a:moveTo>
                <a:lnTo>
                  <a:pt x="3958" y="4"/>
                </a:lnTo>
              </a:path>
            </a:pathLst>
          </a:custGeom>
          <a:noFill/>
          <a:ln w="6096" cap="flat">
            <a:solidFill>
              <a:srgbClr val="4874CB"/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0" name="path 420"/>
          <p:cNvSpPr/>
          <p:nvPr/>
        </p:nvSpPr>
        <p:spPr>
          <a:xfrm>
            <a:off x="1364741" y="1717675"/>
            <a:ext cx="2073656" cy="6095"/>
          </a:xfrm>
          <a:custGeom>
            <a:avLst/>
            <a:gdLst/>
            <a:ahLst/>
            <a:cxnLst/>
            <a:rect l="0" t="0" r="0" b="0"/>
            <a:pathLst>
              <a:path w="3265" h="9">
                <a:moveTo>
                  <a:pt x="0" y="4"/>
                </a:moveTo>
                <a:lnTo>
                  <a:pt x="3265" y="4"/>
                </a:lnTo>
              </a:path>
            </a:pathLst>
          </a:custGeom>
          <a:noFill/>
          <a:ln w="6096" cap="flat">
            <a:solidFill>
              <a:srgbClr val="4874CB"/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box 422"/>
          <p:cNvSpPr/>
          <p:nvPr/>
        </p:nvSpPr>
        <p:spPr>
          <a:xfrm>
            <a:off x="717437" y="5410479"/>
            <a:ext cx="6391275" cy="4622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355" algn="l" rtl="0" eaLnBrk="0">
              <a:lnSpc>
                <a:spcPct val="95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DBSCAN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适用场景：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87000"/>
              </a:lnSpc>
              <a:spcBef>
                <a:spcPts val="892"/>
              </a:spcBef>
              <a:tabLst/>
            </a:pPr>
            <a:r>
              <a:rPr sz="1000" b="1" kern="0" spc="4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处理任意形状的簇。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适用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场景：当数据中的簇呈现非球形、不规则形状（如长条形、环形、嵌套结构等）时，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7145" algn="l" rtl="0" eaLnBrk="0">
              <a:lnSpc>
                <a:spcPts val="2339"/>
              </a:lnSpc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DBSCAN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能准确识别，而</a:t>
            </a:r>
            <a:r>
              <a:rPr sz="1000" kern="0" spc="-1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K-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means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等基于距离的算法会失效。典型应用：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394334" algn="l" rtl="0" eaLnBrk="0">
              <a:lnSpc>
                <a:spcPct val="98000"/>
              </a:lnSpc>
              <a:spcBef>
                <a:spcPts val="1299"/>
              </a:spcBef>
              <a:tabLst>
                <a:tab pos="54483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地理数据（如地震震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中分布、城市热点区域）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406400" algn="l" rtl="0" eaLnBrk="0">
              <a:lnSpc>
                <a:spcPct val="99000"/>
              </a:lnSpc>
              <a:spcBef>
                <a:spcPts val="1156"/>
              </a:spcBef>
              <a:tabLst>
                <a:tab pos="5461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生物信息学（基因表达模式、蛋白质结构分析）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394334" algn="l" rtl="0" eaLnBrk="0">
              <a:lnSpc>
                <a:spcPct val="99000"/>
              </a:lnSpc>
              <a:spcBef>
                <a:spcPts val="1152"/>
              </a:spcBef>
              <a:tabLst>
                <a:tab pos="55753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图像分割（识别不规则物体边界）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1152"/>
              </a:spcBef>
              <a:tabLst/>
            </a:pPr>
            <a:r>
              <a:rPr sz="1000" b="1" kern="0" spc="5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数据包含噪声或异常值。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适用场景：数据中存在大量噪声点或异常值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，需要自动过滤。典型应用：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394334" algn="l" rtl="0" eaLnBrk="0">
              <a:lnSpc>
                <a:spcPct val="99000"/>
              </a:lnSpc>
              <a:spcBef>
                <a:spcPts val="1152"/>
              </a:spcBef>
              <a:tabLst>
                <a:tab pos="54355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欺诈检测（标记异常交易）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406400" algn="l" rtl="0" eaLnBrk="0">
              <a:lnSpc>
                <a:spcPct val="98000"/>
              </a:lnSpc>
              <a:spcBef>
                <a:spcPts val="1160"/>
              </a:spcBef>
              <a:tabLst>
                <a:tab pos="54355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传感器数据分析（剔除故障传感器读数）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406400" algn="l" rtl="0" eaLnBrk="0">
              <a:lnSpc>
                <a:spcPct val="98000"/>
              </a:lnSpc>
              <a:spcBef>
                <a:spcPts val="1160"/>
              </a:spcBef>
              <a:tabLst>
                <a:tab pos="5461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客户分群（排除低价值或异常用户）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9000"/>
              </a:lnSpc>
              <a:spcBef>
                <a:spcPts val="1160"/>
              </a:spcBef>
              <a:tabLst/>
            </a:pPr>
            <a:r>
              <a:rPr sz="1000" b="1" kern="0" spc="5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无需预先指定簇数量。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数据中的簇数量未知，且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希望算法自动发现，典型应用：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406400" algn="l" rtl="0" eaLnBrk="0">
              <a:lnSpc>
                <a:spcPct val="99000"/>
              </a:lnSpc>
              <a:spcBef>
                <a:spcPts val="1152"/>
              </a:spcBef>
              <a:tabLst>
                <a:tab pos="5461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社交网络分析（发现潜在社区）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394334" algn="l" rtl="0" eaLnBrk="0">
              <a:lnSpc>
                <a:spcPct val="99000"/>
              </a:lnSpc>
              <a:spcBef>
                <a:spcPts val="1152"/>
              </a:spcBef>
              <a:tabLst>
                <a:tab pos="54736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天文数据分析（识别未知星团）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406400" algn="l" rtl="0" eaLnBrk="0">
              <a:lnSpc>
                <a:spcPct val="99000"/>
              </a:lnSpc>
              <a:spcBef>
                <a:spcPts val="1152"/>
              </a:spcBef>
              <a:tabLst>
                <a:tab pos="54800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市场调研（探索用户自然分群）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5240" algn="l" rtl="0" eaLnBrk="0">
              <a:lnSpc>
                <a:spcPct val="99000"/>
              </a:lnSpc>
              <a:spcBef>
                <a:spcPts val="1152"/>
              </a:spcBef>
              <a:tabLst/>
            </a:pPr>
            <a:r>
              <a:rPr sz="1000" b="1" kern="0" spc="5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空间或时空数据分析。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处理具有空间或时空属性的数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据，关注局部密度特征，典型应用。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4334" algn="l" rtl="0" eaLnBrk="0">
              <a:lnSpc>
                <a:spcPct val="99000"/>
              </a:lnSpc>
              <a:tabLst>
                <a:tab pos="54483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城市规划（识别人口密度相近的居民区）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pic>
        <p:nvPicPr>
          <p:cNvPr id="424" name="picture 4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2722" y="9873615"/>
            <a:ext cx="109104" cy="88900"/>
          </a:xfrm>
          <a:prstGeom prst="rect">
            <a:avLst/>
          </a:prstGeom>
        </p:spPr>
      </p:pic>
      <p:pic>
        <p:nvPicPr>
          <p:cNvPr id="426" name="picture 4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600" y="9257030"/>
            <a:ext cx="133350" cy="133350"/>
          </a:xfrm>
          <a:prstGeom prst="rect">
            <a:avLst/>
          </a:prstGeom>
        </p:spPr>
      </p:pic>
      <p:pic>
        <p:nvPicPr>
          <p:cNvPr id="428" name="picture 4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2722" y="8982075"/>
            <a:ext cx="109104" cy="88900"/>
          </a:xfrm>
          <a:prstGeom prst="rect">
            <a:avLst/>
          </a:prstGeom>
        </p:spPr>
      </p:pic>
      <p:pic>
        <p:nvPicPr>
          <p:cNvPr id="430" name="picture 4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600" y="8662669"/>
            <a:ext cx="133350" cy="133350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600" y="8068309"/>
            <a:ext cx="133350" cy="133350"/>
          </a:xfrm>
          <a:prstGeom prst="rect">
            <a:avLst/>
          </a:prstGeom>
        </p:spPr>
      </p:pic>
      <p:pic>
        <p:nvPicPr>
          <p:cNvPr id="434" name="picture 4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600" y="7771130"/>
            <a:ext cx="133350" cy="133350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2722" y="7496175"/>
            <a:ext cx="109104" cy="88900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2722" y="6901815"/>
            <a:ext cx="109104" cy="88900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600" y="6582409"/>
            <a:ext cx="133350" cy="133350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2722" y="6307454"/>
            <a:ext cx="109104" cy="88900"/>
          </a:xfrm>
          <a:prstGeom prst="rect">
            <a:avLst/>
          </a:prstGeom>
        </p:spPr>
      </p:pic>
      <p:sp>
        <p:nvSpPr>
          <p:cNvPr id="444" name="textbox 444"/>
          <p:cNvSpPr/>
          <p:nvPr/>
        </p:nvSpPr>
        <p:spPr>
          <a:xfrm>
            <a:off x="447090" y="548195"/>
            <a:ext cx="6720205" cy="294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95000"/>
              </a:lnSpc>
              <a:tabLst/>
            </a:pP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知识点</a:t>
            </a:r>
            <a:r>
              <a:rPr sz="1500" kern="0" spc="-36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</a:t>
            </a:r>
            <a:r>
              <a:rPr sz="1500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-20" dirty="0">
                <a:solidFill>
                  <a:srgbClr val="4874D4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密度聚类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322579" algn="l" rtl="0" eaLnBrk="0">
              <a:lnSpc>
                <a:spcPct val="95000"/>
              </a:lnSpc>
              <a:spcBef>
                <a:spcPts val="1001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核心思想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536575" algn="l" rtl="0" eaLnBrk="0">
              <a:lnSpc>
                <a:spcPct val="94000"/>
              </a:lnSpc>
              <a:spcBef>
                <a:spcPts val="1445"/>
              </a:spcBef>
              <a:tabLst>
                <a:tab pos="54483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故事讲解：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DBSCAN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的冒险之旅：小精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灵的寻友记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7145" indent="304165" algn="l" rtl="0" eaLnBrk="0">
              <a:lnSpc>
                <a:spcPct val="135000"/>
              </a:lnSpc>
              <a:spcBef>
                <a:spcPts val="569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密度王国的奇妙冒险，在数据王国里，住着一群活泼的小精灵（数据点）。他们有的喜欢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热闹，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成群结队（核心点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）；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有的性格孤僻，独自生活（噪声点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）；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还有的虽然朋友不多，但总爱跟着热闹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的群体（边界点）。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2700" indent="310515" algn="l" rtl="0" eaLnBrk="0">
              <a:lnSpc>
                <a:spcPct val="133000"/>
              </a:lnSpc>
              <a:spcBef>
                <a:spcPts val="226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一天，王国里来了一位名叫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DBSCAN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的探险家，他决定帮小精灵们找到自己的朋友圈（聚类）。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DBSCAN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有两个神奇的魔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法道具：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320675" algn="l" rtl="0" eaLnBrk="0">
              <a:lnSpc>
                <a:spcPct val="83000"/>
              </a:lnSpc>
              <a:spcBef>
                <a:spcPts val="1327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魔法望远镜</a:t>
            </a:r>
            <a:r>
              <a:rPr sz="1200" kern="0" spc="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 ε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邻域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）：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能看到每个小精灵周围一定距离内的其他精灵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22579" algn="l" rtl="0" eaLnBrk="0">
              <a:lnSpc>
                <a:spcPts val="2557"/>
              </a:lnSpc>
              <a:spcBef>
                <a:spcPts val="1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最小朋友数  （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minPts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）：判断一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个精灵是否喜欢热闹的标准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446" name="picture 4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19072" y="3256279"/>
            <a:ext cx="217804" cy="217805"/>
          </a:xfrm>
          <a:prstGeom prst="rect">
            <a:avLst/>
          </a:prstGeom>
        </p:spPr>
      </p:pic>
      <p:pic>
        <p:nvPicPr>
          <p:cNvPr id="448" name="picture 4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98193" y="2860039"/>
            <a:ext cx="217804" cy="217805"/>
          </a:xfrm>
          <a:prstGeom prst="rect">
            <a:avLst/>
          </a:prstGeom>
        </p:spPr>
      </p:pic>
      <p:pic>
        <p:nvPicPr>
          <p:cNvPr id="450" name="picture 4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42950" y="1160779"/>
            <a:ext cx="249555" cy="249555"/>
          </a:xfrm>
          <a:prstGeom prst="rect">
            <a:avLst/>
          </a:prstGeom>
        </p:spPr>
      </p:pic>
      <p:sp>
        <p:nvSpPr>
          <p:cNvPr id="452" name="textbox 452"/>
          <p:cNvSpPr/>
          <p:nvPr/>
        </p:nvSpPr>
        <p:spPr>
          <a:xfrm>
            <a:off x="457200" y="3587114"/>
            <a:ext cx="6645909" cy="1783714"/>
          </a:xfrm>
          <a:prstGeom prst="rect">
            <a:avLst/>
          </a:prstGeom>
          <a:solidFill>
            <a:srgbClr val="D4F4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7495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DBSCAN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的探险规则很简单：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45465" algn="l" rtl="0" eaLnBrk="0">
              <a:lnSpc>
                <a:spcPct val="98000"/>
              </a:lnSpc>
              <a:spcBef>
                <a:spcPts val="1164"/>
              </a:spcBef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随机选择一个还没被访问的小精灵，用魔法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望远镜看看他周围有多少朋友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40384" algn="l" rtl="0" eaLnBrk="0">
              <a:lnSpc>
                <a:spcPct val="186000"/>
              </a:lnSpc>
              <a:spcBef>
                <a:spcPts val="220"/>
              </a:spcBef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如果朋友数≥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minPts</a:t>
            </a:r>
            <a:r>
              <a:rPr sz="1000" kern="0" spc="-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，说明这里有个新群体！标记为核心点，并开始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"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滚雪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球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"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式地寻找所有可达的朋友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如果朋友数不够但位于某个核心点的望远镜范围内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，就标记为边界点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540384" algn="l" rtl="0" eaLnBrk="0">
              <a:lnSpc>
                <a:spcPct val="99000"/>
              </a:lnSpc>
              <a:spcBef>
                <a:spcPts val="1152"/>
              </a:spcBef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如果既不是核心点也不在任何核心点的范围内，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就是孤独的噪声点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00050" algn="l" rtl="0" eaLnBrk="0">
              <a:lnSpc>
                <a:spcPct val="98000"/>
              </a:lnSpc>
              <a:spcBef>
                <a:spcPts val="5"/>
              </a:spcBef>
              <a:tabLst>
                <a:tab pos="53911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就这样，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DBSCAN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走遍了整个王国，把所有小精灵都分到了合适的朋友圈，或者标记为喜欢独处的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个体。</a:t>
            </a:r>
            <a:endParaRPr sz="1000" dirty="0">
              <a:latin typeface="SimSun"/>
              <a:ea typeface="SimSun"/>
              <a:cs typeface="SimSun"/>
            </a:endParaRPr>
          </a:p>
        </p:txBody>
      </p:sp>
      <p:pic>
        <p:nvPicPr>
          <p:cNvPr id="454" name="picture 4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23900" y="5135879"/>
            <a:ext cx="133350" cy="133350"/>
          </a:xfrm>
          <a:prstGeom prst="rect">
            <a:avLst/>
          </a:prstGeom>
        </p:spPr>
      </p:pic>
      <p:pic>
        <p:nvPicPr>
          <p:cNvPr id="456" name="picture 4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7200" y="5690870"/>
            <a:ext cx="133350" cy="399668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8" name="table 458"/>
          <p:cNvGraphicFramePr>
            <a:graphicFrameLocks noGrp="1"/>
          </p:cNvGraphicFramePr>
          <p:nvPr/>
        </p:nvGraphicFramePr>
        <p:xfrm>
          <a:off x="123697" y="3389630"/>
          <a:ext cx="7129144" cy="2242184"/>
        </p:xfrm>
        <a:graphic>
          <a:graphicData uri="http://schemas.openxmlformats.org/drawingml/2006/table">
            <a:tbl>
              <a:tblPr/>
              <a:tblGrid>
                <a:gridCol w="1284605"/>
                <a:gridCol w="1214755"/>
                <a:gridCol w="2527935"/>
                <a:gridCol w="2101850"/>
              </a:tblGrid>
              <a:tr h="437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1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场景类型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C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27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推荐算法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C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646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关键参数建议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C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296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注意事项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C0B4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用户分群（已知分组）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669" algn="l" rtl="0" eaLnBrk="0">
                        <a:lnSpc>
                          <a:spcPts val="1122"/>
                        </a:lnSpc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K-means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50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K=业务预期分组数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需标准化分类与数值特</a:t>
                      </a: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征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6079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异常检测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24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DBSCAN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0544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eps=0.3-0.5,min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_samples=5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1640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优先使用标准化后的数据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509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地理热点分析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24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DBSCAN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8459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eps=实际距离单位,min_s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amples=10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030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转换坐标系（如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UTM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）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24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图像压缩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669" algn="l" rtl="0" eaLnBrk="0">
                        <a:lnSpc>
                          <a:spcPts val="112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K-means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866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K=16/256（颜色数）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Lab</a:t>
                      </a:r>
                      <a:r>
                        <a:rPr sz="9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颜色空间提升感知均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匀性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6225" algn="l" rtl="0" eaLnBrk="0">
                        <a:lnSpc>
                          <a:spcPct val="9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时序事件聚类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6244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DBSCAN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8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070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eps=时间窗口（如</a:t>
                      </a:r>
                      <a:r>
                        <a:rPr sz="9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r>
                        <a:rPr sz="9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小时）,min_samples=3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11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结合时间空间双维度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E9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C0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60" name="textbox 460"/>
          <p:cNvSpPr/>
          <p:nvPr/>
        </p:nvSpPr>
        <p:spPr>
          <a:xfrm>
            <a:off x="444500" y="507365"/>
            <a:ext cx="4403090" cy="2863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79450" algn="l" rtl="0" eaLnBrk="0">
              <a:lnSpc>
                <a:spcPct val="99000"/>
              </a:lnSpc>
              <a:tabLst>
                <a:tab pos="81788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气象学（分析相似密度的气象模式）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679450" algn="l" rtl="0" eaLnBrk="0">
              <a:lnSpc>
                <a:spcPct val="98000"/>
              </a:lnSpc>
              <a:spcBef>
                <a:spcPts val="1160"/>
              </a:spcBef>
              <a:tabLst>
                <a:tab pos="81788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物流优化（仓库货物分布聚类）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666750" algn="l" rtl="0" eaLnBrk="0">
              <a:lnSpc>
                <a:spcPct val="99000"/>
              </a:lnSpc>
              <a:spcBef>
                <a:spcPts val="1156"/>
              </a:spcBef>
              <a:tabLst>
                <a:tab pos="820419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交通管理（识别拥堵路段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679450" algn="l" rtl="0" eaLnBrk="0">
              <a:lnSpc>
                <a:spcPct val="99000"/>
              </a:lnSpc>
              <a:spcBef>
                <a:spcPts val="1152"/>
              </a:spcBef>
              <a:tabLst>
                <a:tab pos="81788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环境监测（污染源扩散分析）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666750" algn="l" rtl="0" eaLnBrk="0">
              <a:lnSpc>
                <a:spcPct val="98000"/>
              </a:lnSpc>
              <a:spcBef>
                <a:spcPts val="1156"/>
              </a:spcBef>
              <a:tabLst>
                <a:tab pos="81788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流行病学（疾病爆发区域追踪）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146050" algn="l" rtl="0" eaLnBrk="0">
              <a:lnSpc>
                <a:spcPct val="99000"/>
              </a:lnSpc>
              <a:spcBef>
                <a:spcPts val="1164"/>
              </a:spcBef>
              <a:tabLst>
                <a:tab pos="286384" algn="l"/>
              </a:tabLst>
            </a:pPr>
            <a:r>
              <a:rPr sz="1000" kern="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b="1" kern="0" spc="4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何时不适用</a:t>
            </a:r>
            <a:r>
              <a:rPr sz="1000" kern="0" spc="-16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000" b="1" kern="0" spc="0" dirty="0">
                <a:solidFill>
                  <a:srgbClr val="C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DBSCAN</a:t>
            </a:r>
            <a:r>
              <a:rPr sz="1000" b="1" kern="0" spc="4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？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679450" algn="l" rtl="0" eaLnBrk="0">
              <a:lnSpc>
                <a:spcPct val="99000"/>
              </a:lnSpc>
              <a:spcBef>
                <a:spcPts val="1148"/>
              </a:spcBef>
              <a:tabLst>
                <a:tab pos="82105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高维数据：维度灾难导致距离计算失效。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666750" algn="l" rtl="0" eaLnBrk="0">
              <a:lnSpc>
                <a:spcPct val="99000"/>
              </a:lnSpc>
              <a:spcBef>
                <a:spcPts val="1152"/>
              </a:spcBef>
              <a:tabLst>
                <a:tab pos="81788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密度差异过大：同一数据集中同时存在极密集和极稀疏的簇。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679450" algn="l" rtl="0" eaLnBrk="0">
              <a:lnSpc>
                <a:spcPct val="99000"/>
              </a:lnSpc>
              <a:spcBef>
                <a:spcPts val="1152"/>
              </a:spcBef>
              <a:tabLst>
                <a:tab pos="81788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计算资源受限：大规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模数据时时间复杂度较高。</a:t>
            </a:r>
            <a:endParaRPr sz="10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24484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参数设置指南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pic>
        <p:nvPicPr>
          <p:cNvPr id="462" name="picture 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600" y="2897505"/>
            <a:ext cx="133350" cy="133350"/>
          </a:xfrm>
          <a:prstGeom prst="rect">
            <a:avLst/>
          </a:prstGeom>
        </p:spPr>
      </p:pic>
      <p:pic>
        <p:nvPicPr>
          <p:cNvPr id="464" name="picture 4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2722" y="2622550"/>
            <a:ext cx="109104" cy="88900"/>
          </a:xfrm>
          <a:prstGeom prst="rect">
            <a:avLst/>
          </a:prstGeom>
        </p:spPr>
      </p:pic>
      <p:pic>
        <p:nvPicPr>
          <p:cNvPr id="466" name="picture 4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600" y="2303144"/>
            <a:ext cx="133350" cy="133350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7200" y="2005965"/>
            <a:ext cx="133350" cy="133350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2722" y="1731009"/>
            <a:ext cx="109104" cy="88900"/>
          </a:xfrm>
          <a:prstGeom prst="rect">
            <a:avLst/>
          </a:prstGeom>
        </p:spPr>
      </p:pic>
      <p:pic>
        <p:nvPicPr>
          <p:cNvPr id="472" name="picture 4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600" y="1411605"/>
            <a:ext cx="133350" cy="133350"/>
          </a:xfrm>
          <a:prstGeom prst="rect">
            <a:avLst/>
          </a:prstGeom>
        </p:spPr>
      </p:pic>
      <p:pic>
        <p:nvPicPr>
          <p:cNvPr id="474" name="picture 4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2722" y="1136650"/>
            <a:ext cx="109104" cy="88900"/>
          </a:xfrm>
          <a:prstGeom prst="rect">
            <a:avLst/>
          </a:prstGeom>
        </p:spPr>
      </p:pic>
      <p:pic>
        <p:nvPicPr>
          <p:cNvPr id="476" name="picture 4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600" y="817244"/>
            <a:ext cx="133350" cy="133350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90600" y="520065"/>
            <a:ext cx="133350" cy="133350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967102" y="6731127"/>
            <a:ext cx="3618738" cy="2434590"/>
          </a:xfrm>
          <a:prstGeom prst="rect">
            <a:avLst/>
          </a:prstGeom>
        </p:spPr>
      </p:pic>
      <p:sp>
        <p:nvSpPr>
          <p:cNvPr id="482" name="textbox 482"/>
          <p:cNvSpPr/>
          <p:nvPr/>
        </p:nvSpPr>
        <p:spPr>
          <a:xfrm>
            <a:off x="447090" y="5672594"/>
            <a:ext cx="6669405" cy="970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83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实战案例：共享单车数据聚类分析</a:t>
            </a:r>
            <a:endParaRPr sz="1200" dirty="0">
              <a:latin typeface="SimSun"/>
              <a:ea typeface="SimSun"/>
              <a:cs typeface="SimSun"/>
            </a:endParaRPr>
          </a:p>
          <a:p>
            <a:pPr marL="15240" algn="l" rtl="0" eaLnBrk="0">
              <a:lnSpc>
                <a:spcPts val="2028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任务目标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307340" algn="l" rtl="0" eaLnBrk="0">
              <a:lnSpc>
                <a:spcPct val="133000"/>
              </a:lnSpc>
              <a:spcBef>
                <a:spcPts val="2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对上海的共享单车数据进行聚类分析，已知共享单车数据中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有经度和纬度两个属性，分别使用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KMeans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和</a:t>
            </a:r>
            <a:r>
              <a:rPr sz="1200" kern="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DBSCAN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聚类算法进行聚类分析。最后可视化聚类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的结果。原始数据分布如下所示。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graphicFrame>
        <p:nvGraphicFramePr>
          <p:cNvPr id="484" name="table 484"/>
          <p:cNvGraphicFramePr>
            <a:graphicFrameLocks noGrp="1"/>
          </p:cNvGraphicFramePr>
          <p:nvPr/>
        </p:nvGraphicFramePr>
        <p:xfrm>
          <a:off x="385571" y="9495790"/>
          <a:ext cx="6754495" cy="611505"/>
        </p:xfrm>
        <a:graphic>
          <a:graphicData uri="http://schemas.openxmlformats.org/drawingml/2006/table">
            <a:tbl>
              <a:tblPr/>
              <a:tblGrid>
                <a:gridCol w="6754495"/>
              </a:tblGrid>
              <a:tr h="6083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sklearn.cluster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DBSCA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matplotlib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pyplot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86" name="textbox 486"/>
          <p:cNvSpPr/>
          <p:nvPr/>
        </p:nvSpPr>
        <p:spPr>
          <a:xfrm>
            <a:off x="751890" y="9278391"/>
            <a:ext cx="1592580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DBSCAN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聚类实现代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码</a:t>
            </a:r>
            <a:endParaRPr sz="12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8" name="table 488"/>
          <p:cNvGraphicFramePr>
            <a:graphicFrameLocks noGrp="1"/>
          </p:cNvGraphicFramePr>
          <p:nvPr/>
        </p:nvGraphicFramePr>
        <p:xfrm>
          <a:off x="385571" y="457200"/>
          <a:ext cx="6754495" cy="8392794"/>
        </p:xfrm>
        <a:graphic>
          <a:graphicData uri="http://schemas.openxmlformats.org/drawingml/2006/table">
            <a:tbl>
              <a:tblPr/>
              <a:tblGrid>
                <a:gridCol w="6754495"/>
              </a:tblGrid>
              <a:tr h="83896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sklearn.preprocess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ing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StandardScaler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506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设置中文字体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plt.rcParams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'font.sans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-serif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'Simhei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解决负号显示为方块的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rcParams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axes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unicode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minus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示例：使用共享单车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数据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5000"/>
                        </a:lnSpc>
                        <a:spcBef>
                          <a:spcPts val="30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my</a:t>
                      </a:r>
                      <a:r>
                        <a:rPr sz="1000" kern="0" spc="7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dbscan</a:t>
                      </a:r>
                      <a:r>
                        <a:rPr sz="1000" kern="0" spc="-30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eps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value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501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k-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距离图确定的参数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7345" algn="l" rtl="0" eaLnBrk="0">
                        <a:lnSpc>
                          <a:spcPts val="1762"/>
                        </a:lnSpc>
                        <a:spcBef>
                          <a:spcPts val="20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optimal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eps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eps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value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从前面计算得到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39090" algn="l" rtl="0" eaLnBrk="0">
                        <a:lnSpc>
                          <a:spcPts val="1441"/>
                        </a:lnSpc>
                        <a:spcBef>
                          <a:spcPts val="10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samples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+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4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i="1" kern="0" spc="-3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是最近邻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数量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6234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i="1" kern="0" spc="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应用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DBSCAN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1775"/>
                        </a:lnSpc>
                        <a:spcBef>
                          <a:spcPts val="10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</a:t>
                      </a:r>
                      <a:r>
                        <a:rPr sz="10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DBSCAN</a:t>
                      </a:r>
                      <a:r>
                        <a:rPr sz="1000" kern="0" spc="-2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optimal</a:t>
                      </a:r>
                      <a:r>
                        <a:rPr sz="10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</a:t>
                      </a:r>
                      <a:r>
                        <a:rPr sz="1000" kern="0" spc="9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samples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</a:t>
                      </a:r>
                      <a:r>
                        <a:rPr sz="10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samples</a:t>
                      </a:r>
                      <a:r>
                        <a:rPr sz="10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</a:t>
                      </a:r>
                      <a:r>
                        <a:rPr sz="1000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.fit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508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获取聚类结果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9884" algn="l" rtl="0" eaLnBrk="0">
                        <a:lnSpc>
                          <a:spcPts val="1667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labels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4804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n_clusters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len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set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13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13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labels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else</a:t>
                      </a:r>
                      <a:r>
                        <a:rPr sz="1000" kern="0" spc="15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4804" algn="l" rtl="0" eaLnBrk="0">
                        <a:lnSpc>
                          <a:spcPts val="1733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noise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list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labels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count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(-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发现聚类数</a:t>
                      </a:r>
                      <a:r>
                        <a:rPr sz="1000" kern="0" spc="-2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clusters</a:t>
                      </a:r>
                      <a:r>
                        <a:rPr sz="1000" kern="0" spc="4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523"/>
                        </a:lnSpc>
                        <a:spcBef>
                          <a:spcPts val="3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f"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噪声点数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noise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375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可视化结果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0995" algn="l" rtl="0" eaLnBrk="0">
                        <a:lnSpc>
                          <a:spcPts val="1775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plt.figure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figsize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12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plt.scatter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[:,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46175" algn="l" rtl="0" eaLnBrk="0">
                        <a:lnSpc>
                          <a:spcPct val="76000"/>
                        </a:lnSpc>
                        <a:spcBef>
                          <a:spcPts val="646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[:,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49350" algn="l" rtl="0" eaLnBrk="0">
                        <a:lnSpc>
                          <a:spcPts val="1667"/>
                        </a:lnSpc>
                        <a:spcBef>
                          <a:spcPts val="249"/>
                        </a:spcBef>
                        <a:tabLst/>
                      </a:pPr>
                      <a:r>
                        <a:rPr sz="1000" kern="0" spc="9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49350" algn="l" rtl="0" eaLnBrk="0">
                        <a:lnSpc>
                          <a:spcPts val="1714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cmap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'viridi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</a:t>
                      </a:r>
                      <a:r>
                        <a:rPr sz="1000" kern="0" spc="-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46175" algn="l" rtl="0" eaLnBrk="0">
                        <a:lnSpc>
                          <a:spcPts val="1402"/>
                        </a:lnSpc>
                        <a:spcBef>
                          <a:spcPts val="10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edgecolor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'k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47444" algn="l" rtl="0" eaLnBrk="0">
                        <a:lnSpc>
                          <a:spcPts val="1402"/>
                        </a:lnSpc>
                        <a:spcBef>
                          <a:spcPts val="10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alpha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0.5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11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title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DBSCAN</a:t>
                      </a:r>
                      <a:r>
                        <a:rPr sz="1000" kern="0" spc="-2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聚类结果</a:t>
                      </a:r>
                      <a:r>
                        <a:rPr sz="1000" kern="0" spc="3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eps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optimal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eps</a:t>
                      </a:r>
                      <a:r>
                        <a:rPr sz="10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.3f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-3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samples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samples</a:t>
                      </a:r>
                      <a:r>
                        <a:rPr sz="1000" kern="0" spc="3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plt.xlabel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经度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5000"/>
                        </a:lnSpc>
                        <a:spcBef>
                          <a:spcPts val="420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plt.ylabel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纬度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751"/>
                        </a:lnSpc>
                        <a:spcBef>
                          <a:spcPts val="24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colorbar</a:t>
                      </a:r>
                      <a:r>
                        <a:rPr sz="1000" kern="0" spc="-2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聚类标签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savefig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密度聚类分析的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共享单车数据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png</a:t>
                      </a:r>
                      <a:r>
                        <a:rPr sz="1000" kern="0" spc="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50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plt.show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139000"/>
                        </a:lnSpc>
                        <a:spcBef>
                          <a:spcPts val="31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__name__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u="sng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u="sng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70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bike_df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.read_csv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'.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./shared_bike_data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.cs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1535"/>
                        </a:lnSpc>
                        <a:spcBef>
                          <a:spcPts val="5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bike_df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纬度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经度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]]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.values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进行数据的标准化处理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6075" algn="l" rtl="0" eaLnBrk="0">
                        <a:lnSpc>
                          <a:spcPts val="1667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StandardScaler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transform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39090" algn="l" rtl="0" eaLnBrk="0">
                        <a:lnSpc>
                          <a:spcPts val="166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my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dbscan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eps</a:t>
                      </a:r>
                      <a:r>
                        <a:rPr sz="1000" kern="0" spc="5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value</a:t>
                      </a:r>
                      <a:r>
                        <a:rPr sz="1000" kern="0" spc="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5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0.215</a:t>
                      </a:r>
                      <a:r>
                        <a:rPr sz="1000" kern="0" spc="4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68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4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90" name="table 490"/>
          <p:cNvGraphicFramePr>
            <a:graphicFrameLocks noGrp="1"/>
          </p:cNvGraphicFramePr>
          <p:nvPr/>
        </p:nvGraphicFramePr>
        <p:xfrm>
          <a:off x="385571" y="9107804"/>
          <a:ext cx="6760845" cy="1007744"/>
        </p:xfrm>
        <a:graphic>
          <a:graphicData uri="http://schemas.openxmlformats.org/drawingml/2006/table">
            <a:tbl>
              <a:tblPr/>
              <a:tblGrid>
                <a:gridCol w="6760845"/>
              </a:tblGrid>
              <a:tr h="10045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pandas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sklearn.preprocess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ing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StandardScaler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648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sklearn.cluster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9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5089" algn="l" rtl="0" eaLnBrk="0">
                        <a:lnSpc>
                          <a:spcPct val="77000"/>
                        </a:lnSpc>
                        <a:spcBef>
                          <a:spcPts val="641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from</a:t>
                      </a:r>
                      <a:r>
                        <a:rPr sz="1000" kern="0" spc="3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sklearn.metri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cs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silhouette_score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7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import</a:t>
                      </a:r>
                      <a:r>
                        <a:rPr sz="1000" kern="0" spc="1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matplotlib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pyplot</a:t>
                      </a:r>
                      <a:r>
                        <a:rPr sz="1000" kern="0" spc="1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as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2" name="textbox 492"/>
          <p:cNvSpPr/>
          <p:nvPr/>
        </p:nvSpPr>
        <p:spPr>
          <a:xfrm>
            <a:off x="751890" y="8889772"/>
            <a:ext cx="1542414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K-Means</a:t>
            </a: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聚类实现代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码</a:t>
            </a:r>
            <a:endParaRPr sz="12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4" name="table 494"/>
          <p:cNvGraphicFramePr>
            <a:graphicFrameLocks noGrp="1"/>
          </p:cNvGraphicFramePr>
          <p:nvPr/>
        </p:nvGraphicFramePr>
        <p:xfrm>
          <a:off x="385571" y="457200"/>
          <a:ext cx="6760845" cy="9725025"/>
        </p:xfrm>
        <a:graphic>
          <a:graphicData uri="http://schemas.openxmlformats.org/drawingml/2006/table">
            <a:tbl>
              <a:tblPr/>
              <a:tblGrid>
                <a:gridCol w="6760845"/>
              </a:tblGrid>
              <a:tr h="9721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设置中文字体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plt.rcParams</a:t>
                      </a:r>
                      <a:r>
                        <a:rPr sz="1000" kern="0" spc="-3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'font.sans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-serif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'Simhei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89535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解决负号显示为方块的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4294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rcParams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axes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unicode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minus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False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5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get</a:t>
                      </a:r>
                      <a:r>
                        <a:rPr sz="1000" kern="0" spc="6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_k_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value</a:t>
                      </a:r>
                      <a:r>
                        <a:rPr sz="1000" kern="0" spc="-25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8000"/>
                        </a:lnSpc>
                        <a:spcBef>
                          <a:spcPts val="510"/>
                        </a:spcBef>
                        <a:tabLst/>
                      </a:pP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使用肘部法则确定</a:t>
                      </a: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最佳</a:t>
                      </a: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376"/>
                        </a:spcBef>
                        <a:tabLst/>
                      </a:pP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创建一个字典，用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于存储每个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i="1" kern="0" spc="-3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值对应的轮廓系数得分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0520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{}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遍历每个</a:t>
                      </a: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i="1" kern="0" spc="-3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1790" algn="l" rtl="0" eaLnBrk="0">
                        <a:lnSpc>
                          <a:spcPct val="76000"/>
                        </a:lnSpc>
                        <a:spcBef>
                          <a:spcPts val="514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19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range</a:t>
                      </a:r>
                      <a:r>
                        <a:rPr sz="1000" kern="0" spc="-28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2934" algn="l" rtl="0" eaLnBrk="0">
                        <a:lnSpc>
                          <a:spcPct val="99000"/>
                        </a:lnSpc>
                        <a:spcBef>
                          <a:spcPts val="506"/>
                        </a:spcBef>
                        <a:tabLst/>
                      </a:pPr>
                      <a:r>
                        <a:rPr sz="1000" i="1" kern="0" spc="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创建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i="1" kern="0" spc="-3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17219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clusters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random</a:t>
                      </a:r>
                      <a:r>
                        <a:rPr sz="1000" kern="0" spc="6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state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42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2934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训练模型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17219" algn="l" rtl="0" eaLnBrk="0">
                        <a:lnSpc>
                          <a:spcPct val="76000"/>
                        </a:lnSpc>
                        <a:spcBef>
                          <a:spcPts val="512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.fit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ata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2934" algn="l" rtl="0" eaLnBrk="0">
                        <a:lnSpc>
                          <a:spcPct val="99000"/>
                        </a:lnSpc>
                        <a:spcBef>
                          <a:spcPts val="508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计算轮廓系数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17855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silhouette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2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labels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22934" algn="l" rtl="0" eaLnBrk="0">
                        <a:lnSpc>
                          <a:spcPct val="98000"/>
                        </a:lnSpc>
                        <a:spcBef>
                          <a:spcPts val="51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10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将轮廓系数和惯性值添加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到列表中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17219" algn="l" rtl="0" eaLnBrk="0">
                        <a:lnSpc>
                          <a:spcPts val="1775"/>
                        </a:lnSpc>
                        <a:spcBef>
                          <a:spcPts val="117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78000"/>
                        </a:lnSpc>
                        <a:spcBef>
                          <a:spcPts val="156"/>
                        </a:spcBef>
                        <a:tabLst/>
                      </a:pPr>
                      <a:r>
                        <a:rPr sz="1000" i="1" kern="0" spc="-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1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end</a:t>
                      </a:r>
                      <a:r>
                        <a:rPr sz="1000" i="1" kern="0" spc="1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6000"/>
                        </a:lnSpc>
                        <a:spcBef>
                          <a:spcPts val="514"/>
                        </a:spcBef>
                        <a:tabLst/>
                      </a:pP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找到字典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i="1" kern="0" spc="-2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中值最大对应的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key</a:t>
                      </a:r>
                      <a:r>
                        <a:rPr sz="1000" i="1" kern="0" spc="1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0995" algn="l" rtl="0" eaLnBrk="0">
                        <a:lnSpc>
                          <a:spcPts val="1775"/>
                        </a:lnSpc>
                        <a:spcBef>
                          <a:spcPts val="14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max</a:t>
                      </a:r>
                      <a:r>
                        <a:rPr sz="1000" kern="0" spc="-26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key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get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231"/>
                        </a:lnSpc>
                        <a:tabLst/>
                      </a:pPr>
                      <a:r>
                        <a:rPr sz="1000" kern="0" spc="-2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print</a:t>
                      </a:r>
                      <a:r>
                        <a:rPr sz="1000" kern="0" spc="-30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最佳</a:t>
                      </a:r>
                      <a:r>
                        <a:rPr sz="1000" kern="0" spc="-1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-2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</a:t>
                      </a:r>
                      <a:r>
                        <a:rPr sz="1000" kern="0" spc="-27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</a:t>
                      </a:r>
                      <a:r>
                        <a:rPr sz="1000" kern="0" spc="-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9250" algn="l" rtl="0" eaLnBrk="0">
                        <a:lnSpc>
                          <a:spcPct val="75000"/>
                        </a:lnSpc>
                        <a:spcBef>
                          <a:spcPts val="52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10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217294" algn="l" rtl="0" eaLnBrk="0">
                        <a:lnSpc>
                          <a:spcPts val="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6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5000"/>
                        </a:lnSpc>
                        <a:spcBef>
                          <a:spcPts val="30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6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my</a:t>
                      </a:r>
                      <a:r>
                        <a:rPr sz="1000" kern="0" spc="6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28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0520" algn="l" rtl="0" eaLnBrk="0">
                        <a:lnSpc>
                          <a:spcPts val="1775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6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n_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clusters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random</a:t>
                      </a:r>
                      <a:r>
                        <a:rPr sz="1000" kern="0" spc="6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state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6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42</a:t>
                      </a:r>
                      <a:r>
                        <a:rPr sz="1000" kern="0" spc="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0520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.fit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ata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9250" algn="l" rtl="0" eaLnBrk="0">
                        <a:lnSpc>
                          <a:spcPct val="78000"/>
                        </a:lnSpc>
                        <a:spcBef>
                          <a:spcPts val="66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return</a:t>
                      </a:r>
                      <a:r>
                        <a:rPr sz="1000" kern="0" spc="7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labels</a:t>
                      </a:r>
                      <a:r>
                        <a:rPr sz="1000" kern="0" spc="1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cluster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centers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75000"/>
                        </a:lnSpc>
                        <a:spcBef>
                          <a:spcPts val="30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def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plot</a:t>
                      </a:r>
                      <a:r>
                        <a:rPr sz="1000" kern="0" spc="1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cluster</a:t>
                      </a:r>
                      <a:r>
                        <a:rPr sz="1000" kern="0" spc="12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-300" dirty="0">
                          <a:solidFill>
                            <a:srgbClr val="00627A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centers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1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83540" algn="l" rtl="0" eaLnBrk="0">
                        <a:lnSpc>
                          <a:spcPct val="99000"/>
                        </a:lnSpc>
                        <a:spcBef>
                          <a:spcPts val="501"/>
                        </a:spcBef>
                        <a:tabLst/>
                      </a:pP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i="1" kern="0" spc="-17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i="1" kern="0" spc="-2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可视化聚类结果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i="1" kern="0" spc="-2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i="1" kern="0" spc="-2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figure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figsize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12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43"/>
                        </a:spcBef>
                        <a:tabLst/>
                      </a:pP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8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绘制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行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i="1" kern="0" spc="-3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列中的第</a:t>
                      </a:r>
                      <a:r>
                        <a:rPr sz="1000" i="1" kern="0" spc="1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i="1" kern="0" spc="-3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12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个子图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56234" algn="l" rtl="0" eaLnBrk="0">
                        <a:lnSpc>
                          <a:spcPts val="1335"/>
                        </a:lnSpc>
                        <a:spcBef>
                          <a:spcPts val="230"/>
                        </a:spcBef>
                        <a:tabLst/>
                      </a:pP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绘制原始数据分布</a:t>
                      </a:r>
                      <a:r>
                        <a:rPr sz="1000" kern="0" spc="-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6000"/>
                        </a:lnSpc>
                        <a:spcBef>
                          <a:spcPts val="50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plt.subplot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2000"/>
                        </a:lnSpc>
                        <a:spcBef>
                          <a:spcPts val="64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plt.scatter</a:t>
                      </a:r>
                      <a:r>
                        <a:rPr sz="1000" kern="0" spc="-2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[:,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[:,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46175" algn="l" rtl="0" eaLnBrk="0">
                        <a:lnSpc>
                          <a:spcPts val="2074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edgecolor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'k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5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plt.xlabel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经度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标准化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plt.ylabel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经度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标准化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plt.title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原始数据分布图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64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plt.subplot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ts val="1335"/>
                        </a:lnSpc>
                        <a:spcBef>
                          <a:spcPts val="416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绘制最佳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值的确定</a:t>
                      </a:r>
                      <a:r>
                        <a:rPr sz="1000" kern="0" spc="-1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</a:t>
                      </a:r>
                      <a:r>
                        <a:rPr sz="1000" i="1" kern="0" spc="5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64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plot</a:t>
                      </a:r>
                      <a:r>
                        <a:rPr sz="1000" kern="0" spc="-2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5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绘制轮廓系数得分曲线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17219" algn="l" rtl="0" eaLnBrk="0">
                        <a:lnSpc>
                          <a:spcPct val="75000"/>
                        </a:lnSpc>
                        <a:spcBef>
                          <a:spcPts val="614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.keys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83894" algn="l" rtl="0" eaLnBrk="0">
                        <a:lnSpc>
                          <a:spcPts val="5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17219" algn="l" rtl="0" eaLnBrk="0">
                        <a:lnSpc>
                          <a:spcPct val="75000"/>
                        </a:lnSpc>
                        <a:spcBef>
                          <a:spcPts val="660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k_sl_score</a:t>
                      </a:r>
                      <a:r>
                        <a:rPr sz="10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.values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35634" algn="l" rtl="0" eaLnBrk="0">
                        <a:lnSpc>
                          <a:spcPct val="75000"/>
                        </a:lnSpc>
                        <a:spcBef>
                          <a:spcPts val="653"/>
                        </a:spcBef>
                        <a:tabLst/>
                      </a:pPr>
                      <a:r>
                        <a:rPr sz="1000" kern="0" spc="-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'bx-</a:t>
                      </a:r>
                      <a:r>
                        <a:rPr sz="1000" kern="0" spc="-33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5000"/>
                        </a:lnSpc>
                        <a:spcBef>
                          <a:spcPts val="66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scatter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</a:t>
                      </a:r>
                      <a:r>
                        <a:rPr sz="1000" kern="0" spc="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0619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96" name="textbox 496"/>
          <p:cNvSpPr/>
          <p:nvPr/>
        </p:nvSpPr>
        <p:spPr>
          <a:xfrm>
            <a:off x="1590546" y="10126291"/>
            <a:ext cx="346075" cy="26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"/>
              </a:lnSpc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498" name="textbox 498"/>
          <p:cNvSpPr/>
          <p:nvPr/>
        </p:nvSpPr>
        <p:spPr>
          <a:xfrm>
            <a:off x="2309845" y="6163890"/>
            <a:ext cx="105410" cy="26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"/>
              </a:lnSpc>
              <a:tabLst/>
            </a:pPr>
            <a:r>
              <a:rPr sz="1000" kern="0" spc="10" dirty="0">
                <a:solidFill>
                  <a:srgbClr val="080808">
                    <a:alpha val="100000"/>
                  </a:srgbClr>
                </a:solidFill>
                <a:latin typeface="Courier New"/>
                <a:ea typeface="Courier New"/>
                <a:cs typeface="Courier New"/>
              </a:rPr>
              <a:t>_</a:t>
            </a:r>
            <a:endParaRPr sz="1000" dirty="0">
              <a:latin typeface="Courier New"/>
              <a:ea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0" name="table 500"/>
          <p:cNvGraphicFramePr>
            <a:graphicFrameLocks noGrp="1"/>
          </p:cNvGraphicFramePr>
          <p:nvPr/>
        </p:nvGraphicFramePr>
        <p:xfrm>
          <a:off x="385571" y="457200"/>
          <a:ext cx="6760845" cy="7165975"/>
        </p:xfrm>
        <a:graphic>
          <a:graphicData uri="http://schemas.openxmlformats.org/drawingml/2006/table">
            <a:tbl>
              <a:tblPr/>
              <a:tblGrid>
                <a:gridCol w="6760845"/>
              </a:tblGrid>
              <a:tr h="7162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59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0" algn="l" rtl="0" eaLnBrk="0">
                        <a:lnSpc>
                          <a:spcPts val="1775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color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'red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5760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51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plt.xlabel</a:t>
                      </a:r>
                      <a:r>
                        <a:rPr sz="1000" kern="0" spc="-2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聚类促中心点个数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559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plt.ylabel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轮廓系数得分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46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title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使用肘部法则确定最佳</a:t>
                      </a:r>
                      <a:r>
                        <a:rPr sz="1000" kern="0" spc="-18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kern="0" spc="-29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值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63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grid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True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ts val="1335"/>
                        </a:lnSpc>
                        <a:spcBef>
                          <a:spcPts val="416"/>
                        </a:spcBef>
                        <a:tabLst/>
                      </a:pP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========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绘制最终的聚类结果</a:t>
                      </a:r>
                      <a:r>
                        <a:rPr sz="1000" kern="0" spc="-1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i="1" kern="0" spc="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=====</a:t>
                      </a:r>
                      <a:r>
                        <a:rPr sz="1000" i="1" kern="0" spc="3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===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6000"/>
                        </a:lnSpc>
                        <a:spcBef>
                          <a:spcPts val="50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plt.subplot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1790" algn="l" rtl="0" eaLnBrk="0">
                        <a:lnSpc>
                          <a:spcPct val="77000"/>
                        </a:lnSpc>
                        <a:spcBef>
                          <a:spcPts val="64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for</a:t>
                      </a:r>
                      <a:r>
                        <a:rPr sz="1000" kern="0" spc="14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kern="0" spc="12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range</a:t>
                      </a:r>
                      <a:r>
                        <a:rPr sz="1000" kern="0" spc="-290" dirty="0">
                          <a:solidFill>
                            <a:srgbClr val="00008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607694" algn="l" rtl="0" eaLnBrk="0">
                        <a:lnSpc>
                          <a:spcPts val="1667"/>
                        </a:lnSpc>
                        <a:spcBef>
                          <a:spcPts val="24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scatter</a:t>
                      </a:r>
                      <a:r>
                        <a:rPr sz="1000" kern="0" spc="-2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-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412875" algn="l" rtl="0" eaLnBrk="0">
                        <a:lnSpc>
                          <a:spcPts val="1560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1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412875" algn="l" rtl="0" eaLnBrk="0">
                        <a:lnSpc>
                          <a:spcPts val="1607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edgecolor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'k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416685" algn="l" rtl="0" eaLnBrk="0">
                        <a:lnSpc>
                          <a:spcPts val="1692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中心点</a:t>
                      </a:r>
                      <a:r>
                        <a:rPr sz="1000" kern="0" spc="2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</a:t>
                      </a:r>
                      <a:r>
                        <a:rPr sz="1000" kern="0" spc="-1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-35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6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绘制中心点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0995" algn="l" rtl="0" eaLnBrk="0">
                        <a:lnSpc>
                          <a:spcPct val="70000"/>
                        </a:lnSpc>
                        <a:spcBef>
                          <a:spcPts val="5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scatter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centers</a:t>
                      </a:r>
                      <a:r>
                        <a:rPr sz="10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[:,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2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</a:t>
                      </a:r>
                      <a:r>
                        <a:rPr sz="1000" kern="0" spc="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centers</a:t>
                      </a:r>
                      <a:r>
                        <a:rPr sz="10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[:,</a:t>
                      </a:r>
                      <a:r>
                        <a:rPr sz="1000" kern="0" spc="1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51255" algn="l" rtl="0" eaLnBrk="0">
                        <a:lnSpc>
                          <a:spcPts val="2031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10" dirty="0">
                          <a:solidFill>
                            <a:srgbClr val="1750EB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300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-1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'red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1139189" algn="l" rtl="0" eaLnBrk="0">
                        <a:lnSpc>
                          <a:spcPts val="1751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marker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'*</a:t>
                      </a:r>
                      <a:r>
                        <a:rPr sz="1000" kern="0" spc="-34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660099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label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聚类中心点</a:t>
                      </a:r>
                      <a:r>
                        <a:rPr sz="1000" kern="0" spc="-2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32"/>
                        </a:lnSpc>
                        <a:spcBef>
                          <a:spcPts val="106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plt.title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'K-means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聚类</a:t>
                      </a:r>
                      <a:r>
                        <a:rPr sz="1000" kern="0" spc="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(K=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{</a:t>
                      </a: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best_k</a:t>
                      </a:r>
                      <a:r>
                        <a:rPr sz="1000" kern="0" spc="0" dirty="0">
                          <a:solidFill>
                            <a:srgbClr val="0037A6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}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88000"/>
                        </a:lnSpc>
                        <a:spcBef>
                          <a:spcPts val="2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plt.xlabel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经度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标准化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417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plt.ylabel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维度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标准化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64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plt.legen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1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7000"/>
                        </a:lnSpc>
                        <a:spcBef>
                          <a:spcPts val="69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tight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layout</a:t>
                      </a:r>
                      <a:r>
                        <a:rPr sz="1000" kern="0" spc="-2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91000"/>
                        </a:lnSpc>
                        <a:spcBef>
                          <a:spcPts val="50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savefig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'K-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means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聚类分析共享单车数据</a:t>
                      </a:r>
                      <a:r>
                        <a:rPr sz="1000" kern="0" spc="-2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png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463"/>
                        </a:lnSpc>
                        <a:tabLst/>
                      </a:pP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plt.show</a:t>
                      </a:r>
                      <a:r>
                        <a:rPr sz="1000" kern="0" spc="-2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139000"/>
                        </a:lnSpc>
                        <a:spcBef>
                          <a:spcPts val="311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</a:t>
                      </a:r>
                      <a:r>
                        <a:rPr sz="1000" kern="0" spc="0" dirty="0">
                          <a:solidFill>
                            <a:srgbClr val="0033B3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__name__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==</a:t>
                      </a:r>
                      <a:r>
                        <a:rPr sz="1000" kern="0" spc="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u="sng" kern="0" spc="3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ma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</a:t>
                      </a:r>
                      <a:r>
                        <a:rPr sz="1000" u="sng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 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: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ts val="1719"/>
                        </a:lnSpc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bike_df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pd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.read_csv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-35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'.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./shared_bike_data</a:t>
                      </a:r>
                      <a:r>
                        <a:rPr sz="1000" kern="0" spc="-36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.cs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</a:t>
                      </a:r>
                      <a:r>
                        <a:rPr sz="1000" kern="0" spc="-35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-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'</a:t>
                      </a:r>
                      <a:r>
                        <a:rPr sz="1000" kern="0" spc="-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6075" algn="l" rtl="0" eaLnBrk="0">
                        <a:lnSpc>
                          <a:spcPts val="1546"/>
                        </a:lnSpc>
                        <a:spcBef>
                          <a:spcPts val="58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bike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df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[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纬度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7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经度</a:t>
                      </a:r>
                      <a:r>
                        <a:rPr sz="1000" kern="0" spc="10" dirty="0">
                          <a:solidFill>
                            <a:srgbClr val="067D17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"</a:t>
                      </a:r>
                      <a:r>
                        <a:rPr sz="1000" kern="0" spc="1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]]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6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进行数据的标准化处理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6075" algn="l" rtl="0" eaLnBrk="0">
                        <a:lnSpc>
                          <a:spcPts val="1667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StandardScaler</a:t>
                      </a:r>
                      <a:r>
                        <a:rPr sz="1000" kern="0" spc="-2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()</a:t>
                      </a:r>
                      <a:r>
                        <a:rPr sz="1000" kern="0" spc="-36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.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fit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transform</a:t>
                      </a:r>
                      <a:r>
                        <a:rPr sz="1000" kern="0" spc="-2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3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13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_k,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12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get</a:t>
                      </a:r>
                      <a:r>
                        <a:rPr sz="1000" u="sng" kern="0" spc="13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u="sng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</a:t>
                      </a:r>
                      <a:r>
                        <a:rPr sz="1000" u="sng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value</a:t>
                      </a:r>
                      <a:r>
                        <a:rPr sz="1000" kern="0" spc="-2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4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56234" algn="l" rtl="0" eaLnBrk="0">
                        <a:lnSpc>
                          <a:spcPct val="99000"/>
                        </a:lnSpc>
                        <a:spcBef>
                          <a:spcPts val="77"/>
                        </a:spcBef>
                        <a:tabLst/>
                      </a:pP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#</a:t>
                      </a:r>
                      <a:r>
                        <a:rPr sz="1000" i="1" kern="0" spc="-1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</a:t>
                      </a:r>
                      <a:r>
                        <a:rPr sz="1000" i="1" kern="0" spc="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i="1" kern="0" spc="-34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i="1" kern="0" spc="90" dirty="0">
                          <a:solidFill>
                            <a:srgbClr val="8C8C8C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模型对数据进行聚类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340995" algn="l" rtl="0" eaLnBrk="0">
                        <a:lnSpc>
                          <a:spcPts val="1775"/>
                        </a:lnSpc>
                        <a:spcBef>
                          <a:spcPts val="11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centers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=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my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KMeans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_k,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8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  <a:p>
                      <a:pPr marL="340995" algn="l" rtl="0" eaLnBrk="0">
                        <a:lnSpc>
                          <a:spcPct val="75000"/>
                        </a:lnSpc>
                        <a:spcBef>
                          <a:spcPts val="202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plot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cluster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result</a:t>
                      </a:r>
                      <a:r>
                        <a:rPr sz="1000" kern="0" spc="-3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(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data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centers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pred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target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best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_k,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 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sl</a:t>
                      </a:r>
                      <a:r>
                        <a:rPr sz="1000" kern="0" spc="10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_</a:t>
                      </a:r>
                      <a:r>
                        <a:rPr sz="1000" kern="0" spc="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score</a:t>
                      </a:r>
                      <a:r>
                        <a:rPr sz="1000" kern="0" spc="90" dirty="0">
                          <a:solidFill>
                            <a:srgbClr val="080808">
                              <a:alpha val="100000"/>
                            </a:srgb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)</a:t>
                      </a:r>
                      <a:endParaRPr sz="1000" dirty="0">
                        <a:latin typeface="Courier New"/>
                        <a:ea typeface="Courier New"/>
                        <a:cs typeface="Courier New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02" name="table 502"/>
          <p:cNvGraphicFramePr>
            <a:graphicFrameLocks noGrp="1"/>
          </p:cNvGraphicFramePr>
          <p:nvPr/>
        </p:nvGraphicFramePr>
        <p:xfrm>
          <a:off x="456819" y="7881746"/>
          <a:ext cx="6590030" cy="1783714"/>
        </p:xfrm>
        <a:graphic>
          <a:graphicData uri="http://schemas.openxmlformats.org/drawingml/2006/table">
            <a:tbl>
              <a:tblPr/>
              <a:tblGrid>
                <a:gridCol w="2492375"/>
                <a:gridCol w="4097654"/>
              </a:tblGrid>
              <a:tr h="17837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87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04" name="picture 5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65704" y="7891271"/>
            <a:ext cx="4072128" cy="1764791"/>
          </a:xfrm>
          <a:prstGeom prst="rect">
            <a:avLst/>
          </a:prstGeom>
        </p:spPr>
      </p:pic>
      <p:pic>
        <p:nvPicPr>
          <p:cNvPr id="506" name="picture 5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6344" y="7891271"/>
            <a:ext cx="2470404" cy="1764791"/>
          </a:xfrm>
          <a:prstGeom prst="rect">
            <a:avLst/>
          </a:prstGeom>
        </p:spPr>
      </p:pic>
      <p:sp>
        <p:nvSpPr>
          <p:cNvPr id="508" name="textbox 508"/>
          <p:cNvSpPr/>
          <p:nvPr/>
        </p:nvSpPr>
        <p:spPr>
          <a:xfrm>
            <a:off x="761187" y="7664462"/>
            <a:ext cx="775969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聚类的结果</a:t>
            </a:r>
            <a:endParaRPr sz="12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文字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肖宇鹏</dc:creator>
  <dcterms:created xsi:type="dcterms:W3CDTF">2025-11-29T17:14:41Z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2025-11-29T22:37:05</vt:filetime>
  </property>
</Properties>
</file>